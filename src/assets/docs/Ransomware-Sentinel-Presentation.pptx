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is Ransomware Sentinel: a desktop application for Windows that watches the folders where people keep their own files, recognises the behaviour typical of ransomware, explains why it raised an alert, and gives the user tools to investigate, respond and keep an audit trail. Everything runs locally on the machine, with no cloud service and no account. In the next ten minutes I will cover the problem, the architecture, how protection starts, how detection and scoring work, the investigation and response workflow, how we tested it, and then I will show a safe live demonstration, before finishing with its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we set out to address is that ransomware is, first of all, a behaviour. It modifies and renames many files very quickly, often adding an encrypted-looking extension. Signature-based tools can only recognise samples they already know, and when something is flagged, users are often given a verdict without an explanation of what happened or what to do next. Many tools also overstate their coverage. So Sentinel takes a different approach: it watches file-system behaviour in the user's own folders, explains every point of its risk score, groups related alerts into a single incident, records every response action in a tamper-evident log, and is explicit about what it does not cover.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Sentinel is one local desktop process. At the top is the PySide6 interface. It renders what it is told and sends requests; it never makes a security decision and contains no database code. In the middle, the ApplicationController orchestrates the application lifecycle and joins the domain coordinators: monitoring, protected locations, the protection start-up flow, detection, incidents, the security state with the audit chain and trust records, and the demo. The coordinators never import each other. Underneath, watchdog provides user-mode file-system events and psutil provides process snapshots, SQLite stores events, alerts, incidents and response actions, and security-relevant records are written to an HMAC-chained audit log. Several of these rules are not just conventions: architecture tests in the suite fail if, for example, a GUI module imports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new user, protection starts with a short setup. Sentinel proposes the folders where personal files normally live: Desktop, Documents, Downloads, Pictures, Videos and Music, resolved through the Windows Known Folder API so that a redirected Documents folder is found where it really is. OneDrive is detected but switched off by default, because its sync client produces bursts of activity. System folders and whole drives are never proposed. When the user presses Start Protection, Sentinel checks every location, runs an initial scan that only lists files and checks their names, and only then starts continuous monitoring, so the scan itself can never be mistaken for ransomware activity. Junctions are not followed, a folder inside another protected folder is watched once, and Sentinel's own database and log files are excluded, so its own writes cannot feed back into detection. Locations that are missing or unreadable stay in the list with their state shown, as you can see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is deliberately deterministic and explainable; there is no machine learning in it. File events from the monitored folders pass through an intake stage that protects the pipeline under extreme load, and five rules are evaluated over a thirty-second sliding window: rapid modification, mass renaming, renames to suspicious extensions such as dot-locked, mass file creation, and high overall event concentration. Each rule that fires adds a stated number of points, up to one hundred, and the risk engine is the only component that turns the score into a severity band. At sixty points an alert is raised, and related alerts are correlated into one incident per attack. Because the score is a sum of named rules, the interface can always show exactly why it is what it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an incident exists, Sentinel supports the whole investigation. The incident page shows the rule contributions behind the score, the history of each affected file, following renames as one file, the linked alerts, and a conservative process attribution that says UNKNOWN rather than guessing. The status follows a validated lifecycle from open to investigating, contained or quarantined, and resolved, or dismissed. Every response is chosen by the user and confirmed: quarantine moves the attributed file into Sentinel's store, which is containment, not isolation, and restore checks the file's hash first. Trust decisions are bound to an executable's SHA-256 with a mandatory reason and can be revoked. Each action is recorded with its real outcome, and security-relevant records go into an HMAC-chained audit log that is verified at start-up, so later modification is detected. The screenshot uses documentation data with a harmless file standing in for an attributed executable.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large part of this project was turning correct functionality into something a new user can actually follow. On first launch a four-step setup explains what Sentinel does and does not do, lets the user choose folders, runs the initial scan and confirms that protection is active. A guided tour then highlights the real controls on each page and says what to do there. The Dashboard always shows one recommended next step, decided by the backend from the real state: set up protection, start it, open an incident, fix a location, add a backup location, or try the demo. Navigation follows the workflow: protect, investigate, respond and verify. And small help buttons explain terms such as risk score, incident and quarantine where they appear, without promising more than the product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was central to the project. The full automated suite runs in random order with a per-test timeout so that hangs and order dependence show up. The final run gave 1389 passed, 2 skipped, 0 failed, out of 1391 collected tests; the two skipped tests create symbolic links, which Windows only allows with administrator rights or developer mode. The suite covers the rules and risk engine, attribution, trust and quarantine, real end-to-end runs through the controller and database, hostile file names, injected database failures, and architecture rules that fail the build if the interface ever touches the database. Beyond the automated tests, we drove the launched application itself: first-run setup, the guided tour, refusing a second instance, and shutting down cleanly with no orphan processes.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live demonstration, which is completely safe. The Demo Center creates, edits and renames inert text files in its own isolated workspace inside Sentinel's data folder, and nowhere else. It encrypts nothing, touches none of my files, ends no process and changes no system setting. Everything after that is the real product. I press Start Demo; you can see the synthetic activity on the Activity page, the risk score rising as rules fire, and an alert being raised. The alert has opened an incident through the normal routing, marked as a safe demonstration. I open it to show the per-file evidence, acknowledge it as my response, verify the audit chain, and assess recovery readiness. Finally, Reset Demo removes only the files the demo created and dismisses the incident through the normal audited transition, so the records remain but the system is clean.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be clear about the limits. Sentinel is a user-mode application: there is no kernel driver, no ETW consumer and no file-system minifilter, so it only sees the folders it protects and it usually cannot say which process changed a file; it reports UNKNOWN rather than guessing. It does not terminate processes or block writes, so it detects and records but cannot guarantee prevention. It cannot decrypt files or recover them; recovery readiness only checks that a backup appears to exist. And the audit log detects tampering after the fact; it cannot prevent it. Future work would add kernel or ETW telemetry for real causal attribution, a confirmed process-suspension response, Volume Shadow Copy inspection, a signed installer, and authenticated telemetry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Ransomware Sentinel detects ransomware-like behaviour in the folders people care about, using five rules whose every point is explained. It guides a new user from first launch through protection, investigation and response, and it records every security action in a tamper-evident log. The Demo Center lets anyone see the full workflow safely, and it leaves the system clean afterwards. Throughout, it is honest about what it covers and what it cannot do. Thank you for listening;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539496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058400" cy="457200"/>
          </a:xfrm>
          <a:prstGeom prst="rect">
            <a:avLst/>
          </a:prstGeom>
          <a:noFill/>
        </p:spPr>
        <p:txBody>
          <a:bodyPr wrap="square" anchor="t" lIns="45720" rIns="45720">
            <a:spAutoFit/>
          </a:bodyPr>
          <a:lstStyle/>
          <a:p>
            <a:pPr algn="l">
              <a:lnSpc>
                <a:spcPct val="110000"/>
              </a:lnSpc>
            </a:pPr>
            <a:r>
              <a:rPr sz="1400" b="1">
                <a:solidFill>
                  <a:srgbClr val="38BDF8"/>
                </a:solidFill>
                <a:latin typeface="Segoe UI"/>
              </a:rPr>
              <a:t>PROJECT PRESENTATION</a:t>
            </a:r>
          </a:p>
        </p:txBody>
      </p:sp>
      <p:sp>
        <p:nvSpPr>
          <p:cNvPr id="4" name="TextBox 3"/>
          <p:cNvSpPr txBox="1"/>
          <p:nvPr/>
        </p:nvSpPr>
        <p:spPr>
          <a:xfrm>
            <a:off x="822960" y="1920240"/>
            <a:ext cx="10515600" cy="1097280"/>
          </a:xfrm>
          <a:prstGeom prst="rect">
            <a:avLst/>
          </a:prstGeom>
          <a:noFill/>
        </p:spPr>
        <p:txBody>
          <a:bodyPr wrap="square" anchor="t" lIns="45720" rIns="45720">
            <a:spAutoFit/>
          </a:bodyPr>
          <a:lstStyle/>
          <a:p>
            <a:pPr algn="l">
              <a:lnSpc>
                <a:spcPct val="110000"/>
              </a:lnSpc>
            </a:pPr>
            <a:r>
              <a:rPr sz="5400" b="1">
                <a:solidFill>
                  <a:srgbClr val="E6EDF3"/>
                </a:solidFill>
                <a:latin typeface="Segoe UI"/>
              </a:rPr>
              <a:t>Ransomware Sentinel</a:t>
            </a:r>
          </a:p>
        </p:txBody>
      </p:sp>
      <p:sp>
        <p:nvSpPr>
          <p:cNvPr id="5" name="TextBox 4"/>
          <p:cNvSpPr txBox="1"/>
          <p:nvPr/>
        </p:nvSpPr>
        <p:spPr>
          <a:xfrm>
            <a:off x="822960" y="3017520"/>
            <a:ext cx="10058400" cy="914400"/>
          </a:xfrm>
          <a:prstGeom prst="rect">
            <a:avLst/>
          </a:prstGeom>
          <a:noFill/>
        </p:spPr>
        <p:txBody>
          <a:bodyPr wrap="square" anchor="t" lIns="45720" rIns="45720">
            <a:spAutoFit/>
          </a:bodyPr>
          <a:lstStyle/>
          <a:p>
            <a:pPr algn="l">
              <a:lnSpc>
                <a:spcPct val="110000"/>
              </a:lnSpc>
            </a:pPr>
            <a:r>
              <a:rPr sz="2400" b="0">
                <a:solidFill>
                  <a:srgbClr val="94A3B8"/>
                </a:solidFill>
                <a:latin typeface="Segoe UI"/>
              </a:rPr>
              <a:t>Local behavioural ransomware detection and incident response for Windows</a:t>
            </a:r>
          </a:p>
        </p:txBody>
      </p:sp>
      <p:sp>
        <p:nvSpPr>
          <p:cNvPr id="6" name="TextBox 5"/>
          <p:cNvSpPr txBox="1"/>
          <p:nvPr/>
        </p:nvSpPr>
        <p:spPr>
          <a:xfrm>
            <a:off x="822960" y="4206240"/>
            <a:ext cx="10058400" cy="457200"/>
          </a:xfrm>
          <a:prstGeom prst="rect">
            <a:avLst/>
          </a:prstGeom>
          <a:noFill/>
        </p:spPr>
        <p:txBody>
          <a:bodyPr wrap="square" anchor="t" lIns="45720" rIns="45720">
            <a:spAutoFit/>
          </a:bodyPr>
          <a:lstStyle/>
          <a:p>
            <a:pPr algn="l">
              <a:lnSpc>
                <a:spcPct val="110000"/>
              </a:lnSpc>
            </a:pPr>
            <a:r>
              <a:rPr sz="1800" b="0">
                <a:solidFill>
                  <a:srgbClr val="E6EDF3"/>
                </a:solidFill>
                <a:latin typeface="Segoe UI"/>
              </a:rPr>
              <a:t>Detect · Explain · Investigate · Respond · Audit · Recover where possible</a:t>
            </a:r>
          </a:p>
        </p:txBody>
      </p:sp>
      <p:sp>
        <p:nvSpPr>
          <p:cNvPr id="7" name="TextBox 6"/>
          <p:cNvSpPr txBox="1"/>
          <p:nvPr/>
        </p:nvSpPr>
        <p:spPr>
          <a:xfrm>
            <a:off x="822960" y="5669280"/>
            <a:ext cx="10058400" cy="457200"/>
          </a:xfrm>
          <a:prstGeom prst="rect">
            <a:avLst/>
          </a:prstGeom>
          <a:noFill/>
        </p:spPr>
        <p:txBody>
          <a:bodyPr wrap="square" anchor="t" lIns="45720" rIns="45720">
            <a:spAutoFit/>
          </a:bodyPr>
          <a:lstStyle/>
          <a:p>
            <a:pPr algn="l">
              <a:lnSpc>
                <a:spcPct val="110000"/>
              </a:lnSpc>
            </a:pPr>
            <a:r>
              <a:rPr sz="1400" b="0">
                <a:solidFill>
                  <a:srgbClr val="94A3B8"/>
                </a:solidFill>
                <a:latin typeface="Segoe UI"/>
              </a:rPr>
              <a:t>Python 3.13 · PySide6 · watchdog · psutil · SQLite  —  runs entirely on the user's machine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PROBLEM AND MOTIVATION</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Ransomware is a behaviour before it is a signature</a:t>
            </a:r>
          </a:p>
        </p:txBody>
      </p:sp>
      <p:sp>
        <p:nvSpPr>
          <p:cNvPr id="5" name="TextBox 4"/>
          <p:cNvSpPr txBox="1"/>
          <p:nvPr/>
        </p:nvSpPr>
        <p:spPr>
          <a:xfrm>
            <a:off x="777240" y="1737360"/>
            <a:ext cx="5852160" cy="4206240"/>
          </a:xfrm>
          <a:prstGeom prst="rect">
            <a:avLst/>
          </a:prstGeom>
          <a:noFill/>
        </p:spPr>
        <p:txBody>
          <a:bodyPr wrap="square">
            <a:spAutoFit/>
          </a:bodyPr>
          <a:lstStyle/>
          <a:p>
            <a:pPr>
              <a:spcAft>
                <a:spcPts val="1400"/>
              </a:spcAft>
            </a:pPr>
            <a:r>
              <a:rPr sz="1800">
                <a:solidFill>
                  <a:srgbClr val="38BDF8"/>
                </a:solidFill>
                <a:latin typeface="Segoe UI"/>
              </a:rPr>
              <a:t>▸  </a:t>
            </a:r>
            <a:r>
              <a:rPr sz="1800" b="1">
                <a:solidFill>
                  <a:srgbClr val="E6EDF3"/>
                </a:solidFill>
                <a:latin typeface="Segoe UI"/>
              </a:rPr>
              <a:t>Fast and destructive.</a:t>
            </a:r>
            <a:r>
              <a:rPr sz="1800">
                <a:solidFill>
                  <a:srgbClr val="94A3B8"/>
                </a:solidFill>
                <a:latin typeface="Segoe UI"/>
              </a:rPr>
              <a:t>  Files are modified and renamed in bursts within seconds.</a:t>
            </a:r>
          </a:p>
          <a:p>
            <a:pPr>
              <a:spcAft>
                <a:spcPts val="1400"/>
              </a:spcAft>
            </a:pPr>
            <a:r>
              <a:rPr sz="1800">
                <a:solidFill>
                  <a:srgbClr val="38BDF8"/>
                </a:solidFill>
                <a:latin typeface="Segoe UI"/>
              </a:rPr>
              <a:t>▸  </a:t>
            </a:r>
            <a:r>
              <a:rPr sz="1800" b="1">
                <a:solidFill>
                  <a:srgbClr val="E6EDF3"/>
                </a:solidFill>
                <a:latin typeface="Segoe UI"/>
              </a:rPr>
              <a:t>New variants appear constantly.</a:t>
            </a:r>
            <a:r>
              <a:rPr sz="1800">
                <a:solidFill>
                  <a:srgbClr val="94A3B8"/>
                </a:solidFill>
                <a:latin typeface="Segoe UI"/>
              </a:rPr>
              <a:t>  A signature only exists after a sample is known.</a:t>
            </a:r>
          </a:p>
          <a:p>
            <a:pPr>
              <a:spcAft>
                <a:spcPts val="1400"/>
              </a:spcAft>
            </a:pPr>
            <a:r>
              <a:rPr sz="1800">
                <a:solidFill>
                  <a:srgbClr val="38BDF8"/>
                </a:solidFill>
                <a:latin typeface="Segoe UI"/>
              </a:rPr>
              <a:t>▸  </a:t>
            </a:r>
            <a:r>
              <a:rPr sz="1800" b="1">
                <a:solidFill>
                  <a:srgbClr val="E6EDF3"/>
                </a:solidFill>
                <a:latin typeface="Segoe UI"/>
              </a:rPr>
              <a:t>Users get little explanation.</a:t>
            </a:r>
            <a:r>
              <a:rPr sz="1800">
                <a:solidFill>
                  <a:srgbClr val="94A3B8"/>
                </a:solidFill>
                <a:latin typeface="Segoe UI"/>
              </a:rPr>
              <a:t>  A bare verdict does not say what happened or what to do.</a:t>
            </a:r>
          </a:p>
          <a:p>
            <a:pPr>
              <a:spcAft>
                <a:spcPts val="1400"/>
              </a:spcAft>
            </a:pPr>
            <a:r>
              <a:rPr sz="1800">
                <a:solidFill>
                  <a:srgbClr val="38BDF8"/>
                </a:solidFill>
                <a:latin typeface="Segoe UI"/>
              </a:rPr>
              <a:t>▸  </a:t>
            </a:r>
            <a:r>
              <a:rPr sz="1800" b="1">
                <a:solidFill>
                  <a:srgbClr val="E6EDF3"/>
                </a:solidFill>
                <a:latin typeface="Segoe UI"/>
              </a:rPr>
              <a:t>Coverage is often overstated.</a:t>
            </a:r>
            <a:r>
              <a:rPr sz="1800">
                <a:solidFill>
                  <a:srgbClr val="94A3B8"/>
                </a:solidFill>
                <a:latin typeface="Segoe UI"/>
              </a:rPr>
              <a:t>  A green tick rarely says which folders are actually watched.</a:t>
            </a:r>
          </a:p>
        </p:txBody>
      </p:sp>
      <p:sp>
        <p:nvSpPr>
          <p:cNvPr id="6" name="Rounded Rectangle 5"/>
          <p:cNvSpPr/>
          <p:nvPr/>
        </p:nvSpPr>
        <p:spPr>
          <a:xfrm>
            <a:off x="7040880" y="1737360"/>
            <a:ext cx="4480560" cy="4023360"/>
          </a:xfrm>
          <a:prstGeom prst="roundRect">
            <a:avLst>
              <a:gd name="adj" fmla="val 8000"/>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0" y="1920240"/>
            <a:ext cx="4023360" cy="45720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SENTINEL'S APPROACH</a:t>
            </a:r>
          </a:p>
        </p:txBody>
      </p:sp>
      <p:sp>
        <p:nvSpPr>
          <p:cNvPr id="8" name="TextBox 7"/>
          <p:cNvSpPr txBox="1"/>
          <p:nvPr/>
        </p:nvSpPr>
        <p:spPr>
          <a:xfrm>
            <a:off x="7315200" y="2377440"/>
            <a:ext cx="4023360" cy="3291840"/>
          </a:xfrm>
          <a:prstGeom prst="rect">
            <a:avLst/>
          </a:prstGeom>
          <a:noFill/>
        </p:spPr>
        <p:txBody>
          <a:bodyPr wrap="square">
            <a:spAutoFit/>
          </a:bodyPr>
          <a:lstStyle/>
          <a:p>
            <a:pPr>
              <a:spcAft>
                <a:spcPts val="1000"/>
              </a:spcAft>
            </a:pPr>
            <a:r>
              <a:rPr sz="1600">
                <a:solidFill>
                  <a:srgbClr val="38BDF8"/>
                </a:solidFill>
                <a:latin typeface="Segoe UI"/>
              </a:rPr>
              <a:t>▸  </a:t>
            </a:r>
            <a:r>
              <a:rPr sz="1600" b="0">
                <a:solidFill>
                  <a:srgbClr val="E6EDF3"/>
                </a:solidFill>
                <a:latin typeface="Segoe UI"/>
              </a:rPr>
              <a:t>Watch the behaviour, not the file contents</a:t>
            </a:r>
          </a:p>
          <a:p>
            <a:pPr>
              <a:spcAft>
                <a:spcPts val="1000"/>
              </a:spcAft>
            </a:pPr>
            <a:r>
              <a:rPr sz="1600">
                <a:solidFill>
                  <a:srgbClr val="38BDF8"/>
                </a:solidFill>
                <a:latin typeface="Segoe UI"/>
              </a:rPr>
              <a:t>▸  </a:t>
            </a:r>
            <a:r>
              <a:rPr sz="1600" b="0">
                <a:solidFill>
                  <a:srgbClr val="E6EDF3"/>
                </a:solidFill>
                <a:latin typeface="Segoe UI"/>
              </a:rPr>
              <a:t>Explain every point of the risk score</a:t>
            </a:r>
          </a:p>
          <a:p>
            <a:pPr>
              <a:spcAft>
                <a:spcPts val="1000"/>
              </a:spcAft>
            </a:pPr>
            <a:r>
              <a:rPr sz="1600">
                <a:solidFill>
                  <a:srgbClr val="38BDF8"/>
                </a:solidFill>
                <a:latin typeface="Segoe UI"/>
              </a:rPr>
              <a:t>▸  </a:t>
            </a:r>
            <a:r>
              <a:rPr sz="1600" b="0">
                <a:solidFill>
                  <a:srgbClr val="E6EDF3"/>
                </a:solidFill>
                <a:latin typeface="Segoe UI"/>
              </a:rPr>
              <a:t>Group alerts into one incident per attack</a:t>
            </a:r>
          </a:p>
          <a:p>
            <a:pPr>
              <a:spcAft>
                <a:spcPts val="1000"/>
              </a:spcAft>
            </a:pPr>
            <a:r>
              <a:rPr sz="1600">
                <a:solidFill>
                  <a:srgbClr val="38BDF8"/>
                </a:solidFill>
                <a:latin typeface="Segoe UI"/>
              </a:rPr>
              <a:t>▸  </a:t>
            </a:r>
            <a:r>
              <a:rPr sz="1600" b="0">
                <a:solidFill>
                  <a:srgbClr val="E6EDF3"/>
                </a:solidFill>
                <a:latin typeface="Segoe UI"/>
              </a:rPr>
              <a:t>Record every response in a tamper-evident log</a:t>
            </a:r>
          </a:p>
          <a:p>
            <a:pPr>
              <a:spcAft>
                <a:spcPts val="1000"/>
              </a:spcAft>
            </a:pPr>
            <a:r>
              <a:rPr sz="1600">
                <a:solidFill>
                  <a:srgbClr val="38BDF8"/>
                </a:solidFill>
                <a:latin typeface="Segoe UI"/>
              </a:rPr>
              <a:t>▸  </a:t>
            </a:r>
            <a:r>
              <a:rPr sz="1600" b="0">
                <a:solidFill>
                  <a:srgbClr val="E6EDF3"/>
                </a:solidFill>
                <a:latin typeface="Segoe UI"/>
              </a:rPr>
              <a:t>Say plainly what is not covered</a:t>
            </a:r>
          </a:p>
        </p:txBody>
      </p:sp>
      <p:sp>
        <p:nvSpPr>
          <p:cNvPr id="9" name="TextBox 8"/>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0" name="TextBox 9"/>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SYSTEM ARCHITECTURE</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One local process, clear boundaries</a:t>
            </a:r>
          </a:p>
        </p:txBody>
      </p:sp>
      <p:sp>
        <p:nvSpPr>
          <p:cNvPr id="5" name="Rounded Rectangle 4"/>
          <p:cNvSpPr/>
          <p:nvPr/>
        </p:nvSpPr>
        <p:spPr>
          <a:xfrm>
            <a:off x="777240" y="1691640"/>
            <a:ext cx="10607040" cy="685800"/>
          </a:xfrm>
          <a:prstGeom prst="roundRect">
            <a:avLst>
              <a:gd name="adj" fmla="val 8000"/>
            </a:avLst>
          </a:prstGeom>
          <a:solidFill>
            <a:srgbClr val="1B2845"/>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E6EDF3"/>
                </a:solidFill>
                <a:latin typeface="Segoe UI"/>
              </a:rPr>
              <a:t>PySide6 GUI</a:t>
            </a:r>
          </a:p>
          <a:p>
            <a:pPr algn="ctr"/>
            <a:r>
              <a:rPr sz="1200">
                <a:solidFill>
                  <a:srgbClr val="94A3B8"/>
                </a:solidFill>
                <a:latin typeface="Segoe UI"/>
              </a:rPr>
              <a:t>Dashboard · Protected Locations · Activity · Alerts · Incidents · Quarantine · Recovery · Diagnostics · Demo Center</a:t>
            </a:r>
          </a:p>
        </p:txBody>
      </p:sp>
      <p:sp>
        <p:nvSpPr>
          <p:cNvPr id="6" name="Rounded Rectangle 5"/>
          <p:cNvSpPr/>
          <p:nvPr/>
        </p:nvSpPr>
        <p:spPr>
          <a:xfrm>
            <a:off x="777240" y="2651760"/>
            <a:ext cx="10607040" cy="64008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E6EDF3"/>
                </a:solidFill>
                <a:latin typeface="Segoe UI"/>
              </a:rPr>
              <a:t>ApplicationController</a:t>
            </a:r>
          </a:p>
          <a:p>
            <a:pPr algn="ctr"/>
            <a:r>
              <a:rPr sz="1200">
                <a:solidFill>
                  <a:srgbClr val="94A3B8"/>
                </a:solidFill>
                <a:latin typeface="Segoe UI"/>
              </a:rPr>
              <a:t>lifecycle orchestration · joins coordinators · publishes state to the GUI by Qt signals</a:t>
            </a:r>
          </a:p>
        </p:txBody>
      </p:sp>
      <p:sp>
        <p:nvSpPr>
          <p:cNvPr id="7" name="Rounded Rectangle 6"/>
          <p:cNvSpPr/>
          <p:nvPr/>
        </p:nvSpPr>
        <p:spPr>
          <a:xfrm>
            <a:off x="77724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Monitoring</a:t>
            </a:r>
          </a:p>
          <a:p>
            <a:pPr algn="ctr"/>
            <a:r>
              <a:rPr sz="1000">
                <a:solidFill>
                  <a:srgbClr val="94A3B8"/>
                </a:solidFill>
                <a:latin typeface="Segoe UI"/>
              </a:rPr>
              <a:t>file + process monitors</a:t>
            </a:r>
          </a:p>
        </p:txBody>
      </p:sp>
      <p:sp>
        <p:nvSpPr>
          <p:cNvPr id="8" name="Rounded Rectangle 7"/>
          <p:cNvSpPr/>
          <p:nvPr/>
        </p:nvSpPr>
        <p:spPr>
          <a:xfrm>
            <a:off x="230886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Protection</a:t>
            </a:r>
          </a:p>
          <a:p>
            <a:pPr algn="ctr"/>
            <a:r>
              <a:rPr sz="1000">
                <a:solidFill>
                  <a:srgbClr val="94A3B8"/>
                </a:solidFill>
                <a:latin typeface="Segoe UI"/>
              </a:rPr>
              <a:t>locations, health</a:t>
            </a:r>
          </a:p>
        </p:txBody>
      </p:sp>
      <p:sp>
        <p:nvSpPr>
          <p:cNvPr id="9" name="Rounded Rectangle 8"/>
          <p:cNvSpPr/>
          <p:nvPr/>
        </p:nvSpPr>
        <p:spPr>
          <a:xfrm>
            <a:off x="384048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Protection flow</a:t>
            </a:r>
          </a:p>
          <a:p>
            <a:pPr algn="ctr"/>
            <a:r>
              <a:rPr sz="1000">
                <a:solidFill>
                  <a:srgbClr val="94A3B8"/>
                </a:solidFill>
                <a:latin typeface="Segoe UI"/>
              </a:rPr>
              <a:t>scan → monitor</a:t>
            </a:r>
          </a:p>
        </p:txBody>
      </p:sp>
      <p:sp>
        <p:nvSpPr>
          <p:cNvPr id="10" name="Rounded Rectangle 9"/>
          <p:cNvSpPr/>
          <p:nvPr/>
        </p:nvSpPr>
        <p:spPr>
          <a:xfrm>
            <a:off x="537210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Detection</a:t>
            </a:r>
          </a:p>
          <a:p>
            <a:pPr algn="ctr"/>
            <a:r>
              <a:rPr sz="1000">
                <a:solidFill>
                  <a:srgbClr val="94A3B8"/>
                </a:solidFill>
                <a:latin typeface="Segoe UI"/>
              </a:rPr>
              <a:t>rules, risk, alerts</a:t>
            </a:r>
          </a:p>
        </p:txBody>
      </p:sp>
      <p:sp>
        <p:nvSpPr>
          <p:cNvPr id="11" name="Rounded Rectangle 10"/>
          <p:cNvSpPr/>
          <p:nvPr/>
        </p:nvSpPr>
        <p:spPr>
          <a:xfrm>
            <a:off x="690372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Incidents</a:t>
            </a:r>
          </a:p>
          <a:p>
            <a:pPr algn="ctr"/>
            <a:r>
              <a:rPr sz="1000">
                <a:solidFill>
                  <a:srgbClr val="94A3B8"/>
                </a:solidFill>
                <a:latin typeface="Segoe UI"/>
              </a:rPr>
              <a:t>lifecycle, response</a:t>
            </a:r>
          </a:p>
        </p:txBody>
      </p:sp>
      <p:sp>
        <p:nvSpPr>
          <p:cNvPr id="12" name="Rounded Rectangle 11"/>
          <p:cNvSpPr/>
          <p:nvPr/>
        </p:nvSpPr>
        <p:spPr>
          <a:xfrm>
            <a:off x="843534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Security state</a:t>
            </a:r>
          </a:p>
          <a:p>
            <a:pPr algn="ctr"/>
            <a:r>
              <a:rPr sz="1000">
                <a:solidFill>
                  <a:srgbClr val="94A3B8"/>
                </a:solidFill>
                <a:latin typeface="Segoe UI"/>
              </a:rPr>
              <a:t>audit chain, trust</a:t>
            </a:r>
          </a:p>
        </p:txBody>
      </p:sp>
      <p:sp>
        <p:nvSpPr>
          <p:cNvPr id="13" name="Rounded Rectangle 12"/>
          <p:cNvSpPr/>
          <p:nvPr/>
        </p:nvSpPr>
        <p:spPr>
          <a:xfrm>
            <a:off x="9966960" y="3611880"/>
            <a:ext cx="1426464"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Demo</a:t>
            </a:r>
          </a:p>
          <a:p>
            <a:pPr algn="ctr"/>
            <a:r>
              <a:rPr sz="1000">
                <a:solidFill>
                  <a:srgbClr val="94A3B8"/>
                </a:solidFill>
                <a:latin typeface="Segoe UI"/>
              </a:rPr>
              <a:t>safe workspace</a:t>
            </a:r>
          </a:p>
        </p:txBody>
      </p:sp>
      <p:sp>
        <p:nvSpPr>
          <p:cNvPr id="14" name="Rounded Rectangle 13"/>
          <p:cNvSpPr/>
          <p:nvPr/>
        </p:nvSpPr>
        <p:spPr>
          <a:xfrm>
            <a:off x="777240" y="4800600"/>
            <a:ext cx="3383280" cy="777240"/>
          </a:xfrm>
          <a:prstGeom prst="roundRect">
            <a:avLst>
              <a:gd name="adj" fmla="val 8000"/>
            </a:avLst>
          </a:prstGeom>
          <a:solidFill>
            <a:srgbClr val="1B2845"/>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E6EDF3"/>
                </a:solidFill>
                <a:latin typeface="Segoe UI"/>
              </a:rPr>
              <a:t>watchdog + psutil</a:t>
            </a:r>
          </a:p>
          <a:p>
            <a:pPr algn="ctr"/>
            <a:r>
              <a:rPr sz="1000">
                <a:solidFill>
                  <a:srgbClr val="94A3B8"/>
                </a:solidFill>
                <a:latin typeface="Segoe UI"/>
              </a:rPr>
              <a:t>user-mode filesystem events, process snapshots</a:t>
            </a:r>
          </a:p>
        </p:txBody>
      </p:sp>
      <p:sp>
        <p:nvSpPr>
          <p:cNvPr id="15" name="Rounded Rectangle 14"/>
          <p:cNvSpPr/>
          <p:nvPr/>
        </p:nvSpPr>
        <p:spPr>
          <a:xfrm>
            <a:off x="4389120" y="4800600"/>
            <a:ext cx="3383280" cy="777240"/>
          </a:xfrm>
          <a:prstGeom prst="roundRect">
            <a:avLst>
              <a:gd name="adj" fmla="val 8000"/>
            </a:avLst>
          </a:prstGeom>
          <a:solidFill>
            <a:srgbClr val="1B2845"/>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E6EDF3"/>
                </a:solidFill>
                <a:latin typeface="Segoe UI"/>
              </a:rPr>
              <a:t>SQLite (WAL, schema v4)</a:t>
            </a:r>
          </a:p>
          <a:p>
            <a:pPr algn="ctr"/>
            <a:r>
              <a:rPr sz="1000">
                <a:solidFill>
                  <a:srgbClr val="94A3B8"/>
                </a:solidFill>
                <a:latin typeface="Segoe UI"/>
              </a:rPr>
              <a:t>events, alerts, incidents, actions, trust</a:t>
            </a:r>
          </a:p>
        </p:txBody>
      </p:sp>
      <p:sp>
        <p:nvSpPr>
          <p:cNvPr id="16" name="Rounded Rectangle 15"/>
          <p:cNvSpPr/>
          <p:nvPr/>
        </p:nvSpPr>
        <p:spPr>
          <a:xfrm>
            <a:off x="8001000" y="4800600"/>
            <a:ext cx="3383280" cy="777240"/>
          </a:xfrm>
          <a:prstGeom prst="roundRect">
            <a:avLst>
              <a:gd name="adj" fmla="val 8000"/>
            </a:avLst>
          </a:prstGeom>
          <a:solidFill>
            <a:srgbClr val="1B2845"/>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E6EDF3"/>
                </a:solidFill>
                <a:latin typeface="Segoe UI"/>
              </a:rPr>
              <a:t>HMAC-chained audit log</a:t>
            </a:r>
          </a:p>
          <a:p>
            <a:pPr algn="ctr"/>
            <a:r>
              <a:rPr sz="1000">
                <a:solidFill>
                  <a:srgbClr val="94A3B8"/>
                </a:solidFill>
                <a:latin typeface="Segoe UI"/>
              </a:rPr>
              <a:t>DPAPI-protected key, verified at startup</a:t>
            </a:r>
          </a:p>
        </p:txBody>
      </p:sp>
      <p:cxnSp>
        <p:nvCxnSpPr>
          <p:cNvPr id="17" name="Connector 16"/>
          <p:cNvCxnSpPr/>
          <p:nvPr/>
        </p:nvCxnSpPr>
        <p:spPr>
          <a:xfrm>
            <a:off x="2743200" y="2377440"/>
            <a:ext cx="0" cy="27432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43200" y="329184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743200" y="448056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80760" y="2377440"/>
            <a:ext cx="0" cy="27432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80760" y="329184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80760" y="448056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18320" y="2377440"/>
            <a:ext cx="0" cy="27432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418320" y="329184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418320" y="4480560"/>
            <a:ext cx="0" cy="32004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5806440"/>
            <a:ext cx="10607040" cy="457200"/>
          </a:xfrm>
          <a:prstGeom prst="rect">
            <a:avLst/>
          </a:prstGeom>
          <a:noFill/>
        </p:spPr>
        <p:txBody>
          <a:bodyPr wrap="square" anchor="t" lIns="45720" rIns="45720">
            <a:spAutoFit/>
          </a:bodyPr>
          <a:lstStyle/>
          <a:p>
            <a:pPr algn="l">
              <a:lnSpc>
                <a:spcPct val="110000"/>
              </a:lnSpc>
            </a:pPr>
            <a:r>
              <a:rPr sz="1300" b="0">
                <a:solidFill>
                  <a:srgbClr val="94A3B8"/>
                </a:solidFill>
                <a:latin typeface="Segoe UI"/>
              </a:rPr>
              <a:t>Rules enforced by tests: the GUI makes no security decisions and contains no SQL; coordinators never import each other.</a:t>
            </a:r>
          </a:p>
        </p:txBody>
      </p:sp>
      <p:sp>
        <p:nvSpPr>
          <p:cNvPr id="27" name="TextBox 26"/>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28" name="TextBox 27"/>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AUTOMATIC PROTECTION</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From first launch to continuous monitoring</a:t>
            </a:r>
          </a:p>
        </p:txBody>
      </p:sp>
      <p:sp>
        <p:nvSpPr>
          <p:cNvPr id="5" name="Rounded Rectangle 4"/>
          <p:cNvSpPr/>
          <p:nvPr/>
        </p:nvSpPr>
        <p:spPr>
          <a:xfrm>
            <a:off x="777240" y="1783080"/>
            <a:ext cx="1508760" cy="86868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Setup</a:t>
            </a:r>
          </a:p>
          <a:p>
            <a:pPr algn="ctr"/>
            <a:r>
              <a:rPr sz="1000">
                <a:solidFill>
                  <a:srgbClr val="94A3B8"/>
                </a:solidFill>
                <a:latin typeface="Segoe UI"/>
              </a:rPr>
              <a:t>choose folders</a:t>
            </a:r>
          </a:p>
        </p:txBody>
      </p:sp>
      <p:cxnSp>
        <p:nvCxnSpPr>
          <p:cNvPr id="6" name="Connector 5"/>
          <p:cNvCxnSpPr/>
          <p:nvPr/>
        </p:nvCxnSpPr>
        <p:spPr>
          <a:xfrm>
            <a:off x="2286000" y="221284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68880" y="1783080"/>
            <a:ext cx="1508760" cy="86868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INITIALIZING</a:t>
            </a:r>
          </a:p>
          <a:p>
            <a:pPr algn="ctr"/>
            <a:r>
              <a:rPr sz="1000">
                <a:solidFill>
                  <a:srgbClr val="94A3B8"/>
                </a:solidFill>
                <a:latin typeface="Segoe UI"/>
              </a:rPr>
              <a:t>check locations</a:t>
            </a:r>
          </a:p>
        </p:txBody>
      </p:sp>
      <p:cxnSp>
        <p:nvCxnSpPr>
          <p:cNvPr id="8" name="Connector 7"/>
          <p:cNvCxnSpPr/>
          <p:nvPr/>
        </p:nvCxnSpPr>
        <p:spPr>
          <a:xfrm>
            <a:off x="3977640" y="221284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160520" y="1783080"/>
            <a:ext cx="1508760" cy="86868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INITIAL SCAN</a:t>
            </a:r>
          </a:p>
          <a:p>
            <a:pPr algn="ctr"/>
            <a:r>
              <a:rPr sz="1000">
                <a:solidFill>
                  <a:srgbClr val="94A3B8"/>
                </a:solidFill>
                <a:latin typeface="Segoe UI"/>
              </a:rPr>
              <a:t>names only</a:t>
            </a:r>
          </a:p>
        </p:txBody>
      </p:sp>
      <p:cxnSp>
        <p:nvCxnSpPr>
          <p:cNvPr id="10" name="Connector 9"/>
          <p:cNvCxnSpPr/>
          <p:nvPr/>
        </p:nvCxnSpPr>
        <p:spPr>
          <a:xfrm>
            <a:off x="5669280" y="221284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52160" y="1783080"/>
            <a:ext cx="1508760" cy="8686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MONITORING ACTIVE</a:t>
            </a:r>
          </a:p>
          <a:p>
            <a:pPr algn="ctr"/>
            <a:r>
              <a:rPr sz="1000">
                <a:solidFill>
                  <a:srgbClr val="94A3B8"/>
                </a:solidFill>
                <a:latin typeface="Segoe UI"/>
              </a:rPr>
              <a:t>continuous</a:t>
            </a:r>
          </a:p>
        </p:txBody>
      </p:sp>
      <p:sp>
        <p:nvSpPr>
          <p:cNvPr id="12" name="TextBox 11"/>
          <p:cNvSpPr txBox="1"/>
          <p:nvPr/>
        </p:nvSpPr>
        <p:spPr>
          <a:xfrm>
            <a:off x="777240" y="2926080"/>
            <a:ext cx="6583680" cy="3108960"/>
          </a:xfrm>
          <a:prstGeom prst="rect">
            <a:avLst/>
          </a:prstGeom>
          <a:noFill/>
        </p:spPr>
        <p:txBody>
          <a:bodyPr wrap="square">
            <a:spAutoFit/>
          </a:bodyPr>
          <a:lstStyle/>
          <a:p>
            <a:pPr>
              <a:spcAft>
                <a:spcPts val="1000"/>
              </a:spcAft>
            </a:pPr>
            <a:r>
              <a:rPr sz="1500">
                <a:solidFill>
                  <a:srgbClr val="38BDF8"/>
                </a:solidFill>
                <a:latin typeface="Segoe UI"/>
              </a:rPr>
              <a:t>▸  </a:t>
            </a:r>
            <a:r>
              <a:rPr sz="1500" b="1">
                <a:solidFill>
                  <a:srgbClr val="E6EDF3"/>
                </a:solidFill>
                <a:latin typeface="Segoe UI"/>
              </a:rPr>
              <a:t>Proposed locations:</a:t>
            </a:r>
            <a:r>
              <a:rPr sz="1500">
                <a:solidFill>
                  <a:srgbClr val="94A3B8"/>
                </a:solidFill>
                <a:latin typeface="Segoe UI"/>
              </a:rPr>
              <a:t>  Desktop, Documents, Downloads, Pictures, Videos, Music via the Windows Known Folder API.</a:t>
            </a:r>
          </a:p>
          <a:p>
            <a:pPr>
              <a:spcAft>
                <a:spcPts val="1000"/>
              </a:spcAft>
            </a:pPr>
            <a:r>
              <a:rPr sz="1500">
                <a:solidFill>
                  <a:srgbClr val="38BDF8"/>
                </a:solidFill>
                <a:latin typeface="Segoe UI"/>
              </a:rPr>
              <a:t>▸  </a:t>
            </a:r>
            <a:r>
              <a:rPr sz="1500" b="1">
                <a:solidFill>
                  <a:srgbClr val="E6EDF3"/>
                </a:solidFill>
                <a:latin typeface="Segoe UI"/>
              </a:rPr>
              <a:t>OneDrive</a:t>
            </a:r>
            <a:r>
              <a:rPr sz="1500">
                <a:solidFill>
                  <a:srgbClr val="94A3B8"/>
                </a:solidFill>
                <a:latin typeface="Segoe UI"/>
              </a:rPr>
              <a:t>  is detected but off by default; system folders and drives are never proposed.</a:t>
            </a:r>
          </a:p>
          <a:p>
            <a:pPr>
              <a:spcAft>
                <a:spcPts val="1000"/>
              </a:spcAft>
            </a:pPr>
            <a:r>
              <a:rPr sz="1500">
                <a:solidFill>
                  <a:srgbClr val="38BDF8"/>
                </a:solidFill>
                <a:latin typeface="Segoe UI"/>
              </a:rPr>
              <a:t>▸  </a:t>
            </a:r>
            <a:r>
              <a:rPr sz="1500" b="1">
                <a:solidFill>
                  <a:srgbClr val="E6EDF3"/>
                </a:solidFill>
                <a:latin typeface="Segoe UI"/>
              </a:rPr>
              <a:t>Scan first, then monitor:</a:t>
            </a:r>
            <a:r>
              <a:rPr sz="1500">
                <a:solidFill>
                  <a:srgbClr val="94A3B8"/>
                </a:solidFill>
                <a:latin typeface="Segoe UI"/>
              </a:rPr>
              <a:t>  listing files can never be scored as activity.</a:t>
            </a:r>
          </a:p>
          <a:p>
            <a:pPr>
              <a:spcAft>
                <a:spcPts val="1000"/>
              </a:spcAft>
            </a:pPr>
            <a:r>
              <a:rPr sz="1500">
                <a:solidFill>
                  <a:srgbClr val="38BDF8"/>
                </a:solidFill>
                <a:latin typeface="Segoe UI"/>
              </a:rPr>
              <a:t>▸  </a:t>
            </a:r>
            <a:r>
              <a:rPr sz="1500" b="1">
                <a:solidFill>
                  <a:srgbClr val="E6EDF3"/>
                </a:solidFill>
                <a:latin typeface="Segoe UI"/>
              </a:rPr>
              <a:t>Safeguards:</a:t>
            </a:r>
            <a:r>
              <a:rPr sz="1500">
                <a:solidFill>
                  <a:srgbClr val="94A3B8"/>
                </a:solidFill>
                <a:latin typeface="Segoe UI"/>
              </a:rPr>
              <a:t>  junctions not followed, nested folders watched once, Sentinel's own files excluded.</a:t>
            </a:r>
          </a:p>
        </p:txBody>
      </p:sp>
      <p:sp>
        <p:nvSpPr>
          <p:cNvPr id="13" name="Rectangle 12"/>
          <p:cNvSpPr/>
          <p:nvPr/>
        </p:nvSpPr>
        <p:spPr>
          <a:xfrm>
            <a:off x="7498080" y="1737360"/>
            <a:ext cx="4069079" cy="2577464"/>
          </a:xfrm>
          <a:prstGeom prst="rect">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09-protected-locations.png"/>
          <p:cNvPicPr>
            <a:picLocks noChangeAspect="1"/>
          </p:cNvPicPr>
          <p:nvPr/>
        </p:nvPicPr>
        <p:blipFill>
          <a:blip r:embed="rId2"/>
          <a:stretch>
            <a:fillRect/>
          </a:stretch>
        </p:blipFill>
        <p:spPr>
          <a:xfrm>
            <a:off x="7543800" y="1783080"/>
            <a:ext cx="3977639" cy="2486024"/>
          </a:xfrm>
          <a:prstGeom prst="rect">
            <a:avLst/>
          </a:prstGeom>
        </p:spPr>
      </p:pic>
      <p:sp>
        <p:nvSpPr>
          <p:cNvPr id="15" name="TextBox 14"/>
          <p:cNvSpPr txBox="1"/>
          <p:nvPr/>
        </p:nvSpPr>
        <p:spPr>
          <a:xfrm>
            <a:off x="7543800" y="4342256"/>
            <a:ext cx="3977639" cy="320040"/>
          </a:xfrm>
          <a:prstGeom prst="rect">
            <a:avLst/>
          </a:prstGeom>
          <a:noFill/>
        </p:spPr>
        <p:txBody>
          <a:bodyPr wrap="square" anchor="t" lIns="45720" rIns="45720">
            <a:spAutoFit/>
          </a:bodyPr>
          <a:lstStyle/>
          <a:p>
            <a:pPr algn="l">
              <a:lnSpc>
                <a:spcPct val="110000"/>
              </a:lnSpc>
            </a:pPr>
            <a:r>
              <a:rPr sz="1100" b="0">
                <a:solidFill>
                  <a:srgbClr val="94A3B8"/>
                </a:solidFill>
                <a:latin typeface="Segoe UI"/>
              </a:rPr>
              <a:t>Protected Locations: each folder shows whether it can be watched</a:t>
            </a:r>
          </a:p>
        </p:txBody>
      </p:sp>
      <p:sp>
        <p:nvSpPr>
          <p:cNvPr id="16" name="TextBox 15"/>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7" name="TextBox 16"/>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BEHAVIOURAL DETECTION AND RISK SCORING</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Five deterministic rules, one explained score</a:t>
            </a:r>
          </a:p>
        </p:txBody>
      </p:sp>
      <p:sp>
        <p:nvSpPr>
          <p:cNvPr id="5" name="Rounded Rectangle 4"/>
          <p:cNvSpPr/>
          <p:nvPr/>
        </p:nvSpPr>
        <p:spPr>
          <a:xfrm>
            <a:off x="77724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File events</a:t>
            </a:r>
          </a:p>
          <a:p>
            <a:pPr algn="ctr"/>
            <a:r>
              <a:rPr sz="1000">
                <a:solidFill>
                  <a:srgbClr val="94A3B8"/>
                </a:solidFill>
                <a:latin typeface="Segoe UI"/>
              </a:rPr>
              <a:t>watchdog</a:t>
            </a:r>
          </a:p>
        </p:txBody>
      </p:sp>
      <p:cxnSp>
        <p:nvCxnSpPr>
          <p:cNvPr id="6" name="Connector 5"/>
          <p:cNvCxnSpPr/>
          <p:nvPr/>
        </p:nvCxnSpPr>
        <p:spPr>
          <a:xfrm>
            <a:off x="2377440" y="216712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6032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Intake</a:t>
            </a:r>
          </a:p>
          <a:p>
            <a:pPr algn="ctr"/>
            <a:r>
              <a:rPr sz="1000">
                <a:solidFill>
                  <a:srgbClr val="94A3B8"/>
                </a:solidFill>
                <a:latin typeface="Segoe UI"/>
              </a:rPr>
              <a:t>backpressure</a:t>
            </a:r>
          </a:p>
        </p:txBody>
      </p:sp>
      <p:cxnSp>
        <p:nvCxnSpPr>
          <p:cNvPr id="8" name="Connector 7"/>
          <p:cNvCxnSpPr/>
          <p:nvPr/>
        </p:nvCxnSpPr>
        <p:spPr>
          <a:xfrm>
            <a:off x="4160520" y="216712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4340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Rules</a:t>
            </a:r>
          </a:p>
          <a:p>
            <a:pPr algn="ctr"/>
            <a:r>
              <a:rPr sz="1000">
                <a:solidFill>
                  <a:srgbClr val="94A3B8"/>
                </a:solidFill>
                <a:latin typeface="Segoe UI"/>
              </a:rPr>
              <a:t>30 s window</a:t>
            </a:r>
          </a:p>
        </p:txBody>
      </p:sp>
      <p:cxnSp>
        <p:nvCxnSpPr>
          <p:cNvPr id="10" name="Connector 9"/>
          <p:cNvCxnSpPr/>
          <p:nvPr/>
        </p:nvCxnSpPr>
        <p:spPr>
          <a:xfrm>
            <a:off x="5943600" y="216712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2648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Risk 0–100</a:t>
            </a:r>
          </a:p>
          <a:p>
            <a:pPr algn="ctr"/>
            <a:r>
              <a:rPr sz="1000">
                <a:solidFill>
                  <a:srgbClr val="94A3B8"/>
                </a:solidFill>
                <a:latin typeface="Segoe UI"/>
              </a:rPr>
              <a:t>explained</a:t>
            </a:r>
          </a:p>
        </p:txBody>
      </p:sp>
      <p:cxnSp>
        <p:nvCxnSpPr>
          <p:cNvPr id="12" name="Connector 11"/>
          <p:cNvCxnSpPr/>
          <p:nvPr/>
        </p:nvCxnSpPr>
        <p:spPr>
          <a:xfrm>
            <a:off x="7726680" y="216712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90956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Alert</a:t>
            </a:r>
          </a:p>
          <a:p>
            <a:pPr algn="ctr"/>
            <a:r>
              <a:rPr sz="1000">
                <a:solidFill>
                  <a:srgbClr val="94A3B8"/>
                </a:solidFill>
                <a:latin typeface="Segoe UI"/>
              </a:rPr>
              <a:t>cooldown</a:t>
            </a:r>
          </a:p>
        </p:txBody>
      </p:sp>
      <p:cxnSp>
        <p:nvCxnSpPr>
          <p:cNvPr id="14" name="Connector 13"/>
          <p:cNvCxnSpPr/>
          <p:nvPr/>
        </p:nvCxnSpPr>
        <p:spPr>
          <a:xfrm>
            <a:off x="9509760" y="2167128"/>
            <a:ext cx="182880"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92640" y="1783080"/>
            <a:ext cx="1600200" cy="77724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E6EDF3"/>
                </a:solidFill>
                <a:latin typeface="Segoe UI"/>
              </a:rPr>
              <a:t>Incident</a:t>
            </a:r>
          </a:p>
          <a:p>
            <a:pPr algn="ctr"/>
            <a:r>
              <a:rPr sz="1000">
                <a:solidFill>
                  <a:srgbClr val="94A3B8"/>
                </a:solidFill>
                <a:latin typeface="Segoe UI"/>
              </a:rPr>
              <a:t>correlated</a:t>
            </a:r>
          </a:p>
        </p:txBody>
      </p:sp>
      <p:graphicFrame>
        <p:nvGraphicFramePr>
          <p:cNvPr id="16" name="Table 15"/>
          <p:cNvGraphicFramePr>
            <a:graphicFrameLocks noGrp="1"/>
          </p:cNvGraphicFramePr>
          <p:nvPr/>
        </p:nvGraphicFramePr>
        <p:xfrm>
          <a:off x="777240" y="2880360"/>
          <a:ext cx="6949440" cy="2651760"/>
        </p:xfrm>
        <a:graphic>
          <a:graphicData uri="http://schemas.openxmlformats.org/drawingml/2006/table">
            <a:tbl>
              <a:tblPr firstRow="1" bandRow="1">
                <a:tableStyleId>{5C22544A-7EE6-4342-B048-85BDC9FD1C3A}</a:tableStyleId>
              </a:tblPr>
              <a:tblGrid>
                <a:gridCol w="3291840"/>
                <a:gridCol w="2743200"/>
                <a:gridCol w="914400"/>
              </a:tblGrid>
              <a:tr h="441960">
                <a:tc>
                  <a:txBody>
                    <a:bodyPr/>
                    <a:lstStyle/>
                    <a:p>
                      <a:r>
                        <a:rPr sz="1200" b="1">
                          <a:solidFill>
                            <a:srgbClr val="38BDF8"/>
                          </a:solidFill>
                          <a:latin typeface="Segoe UI"/>
                        </a:rPr>
                        <a:t>Rule</a:t>
                      </a:r>
                    </a:p>
                  </a:txBody>
                  <a:tcPr>
                    <a:solidFill>
                      <a:srgbClr val="1B2845"/>
                    </a:solidFill>
                  </a:tcPr>
                </a:tc>
                <a:tc>
                  <a:txBody>
                    <a:bodyPr/>
                    <a:lstStyle/>
                    <a:p>
                      <a:r>
                        <a:rPr sz="1200" b="1">
                          <a:solidFill>
                            <a:srgbClr val="38BDF8"/>
                          </a:solidFill>
                          <a:latin typeface="Segoe UI"/>
                        </a:rPr>
                        <a:t>Default trigger</a:t>
                      </a:r>
                    </a:p>
                  </a:txBody>
                  <a:tcPr>
                    <a:solidFill>
                      <a:srgbClr val="1B2845"/>
                    </a:solidFill>
                  </a:tcPr>
                </a:tc>
                <a:tc>
                  <a:txBody>
                    <a:bodyPr/>
                    <a:lstStyle/>
                    <a:p>
                      <a:r>
                        <a:rPr sz="1200" b="1">
                          <a:solidFill>
                            <a:srgbClr val="38BDF8"/>
                          </a:solidFill>
                          <a:latin typeface="Segoe UI"/>
                        </a:rPr>
                        <a:t>Points</a:t>
                      </a:r>
                    </a:p>
                  </a:txBody>
                  <a:tcPr>
                    <a:solidFill>
                      <a:srgbClr val="1B2845"/>
                    </a:solidFill>
                  </a:tcPr>
                </a:tc>
              </a:tr>
              <a:tr h="441960">
                <a:tc>
                  <a:txBody>
                    <a:bodyPr/>
                    <a:lstStyle/>
                    <a:p>
                      <a:r>
                        <a:rPr sz="1300" b="0">
                          <a:solidFill>
                            <a:srgbClr val="E6EDF3"/>
                          </a:solidFill>
                          <a:latin typeface="Segoe UI"/>
                        </a:rPr>
                        <a:t>RAPID_FILE_MODIFICATION</a:t>
                      </a:r>
                    </a:p>
                  </a:txBody>
                  <a:tcPr>
                    <a:solidFill>
                      <a:srgbClr val="131D33"/>
                    </a:solidFill>
                  </a:tcPr>
                </a:tc>
                <a:tc>
                  <a:txBody>
                    <a:bodyPr/>
                    <a:lstStyle/>
                    <a:p>
                      <a:r>
                        <a:rPr sz="1300" b="0">
                          <a:solidFill>
                            <a:srgbClr val="E6EDF3"/>
                          </a:solidFill>
                          <a:latin typeface="Segoe UI"/>
                        </a:rPr>
                        <a:t>50 modifications / 30 s</a:t>
                      </a:r>
                    </a:p>
                  </a:txBody>
                  <a:tcPr>
                    <a:solidFill>
                      <a:srgbClr val="131D33"/>
                    </a:solidFill>
                  </a:tcPr>
                </a:tc>
                <a:tc>
                  <a:txBody>
                    <a:bodyPr/>
                    <a:lstStyle/>
                    <a:p>
                      <a:r>
                        <a:rPr sz="1300" b="0">
                          <a:solidFill>
                            <a:srgbClr val="E6EDF3"/>
                          </a:solidFill>
                          <a:latin typeface="Segoe UI"/>
                        </a:rPr>
                        <a:t>25</a:t>
                      </a:r>
                    </a:p>
                  </a:txBody>
                  <a:tcPr>
                    <a:solidFill>
                      <a:srgbClr val="131D33"/>
                    </a:solidFill>
                  </a:tcPr>
                </a:tc>
              </a:tr>
              <a:tr h="441960">
                <a:tc>
                  <a:txBody>
                    <a:bodyPr/>
                    <a:lstStyle/>
                    <a:p>
                      <a:r>
                        <a:rPr sz="1300" b="0">
                          <a:solidFill>
                            <a:srgbClr val="E6EDF3"/>
                          </a:solidFill>
                          <a:latin typeface="Segoe UI"/>
                        </a:rPr>
                        <a:t>MASS_FILE_RENAME</a:t>
                      </a:r>
                    </a:p>
                  </a:txBody>
                  <a:tcPr>
                    <a:solidFill>
                      <a:srgbClr val="131D33"/>
                    </a:solidFill>
                  </a:tcPr>
                </a:tc>
                <a:tc>
                  <a:txBody>
                    <a:bodyPr/>
                    <a:lstStyle/>
                    <a:p>
                      <a:r>
                        <a:rPr sz="1300" b="0">
                          <a:solidFill>
                            <a:srgbClr val="E6EDF3"/>
                          </a:solidFill>
                          <a:latin typeface="Segoe UI"/>
                        </a:rPr>
                        <a:t>20 renames / 30 s</a:t>
                      </a:r>
                    </a:p>
                  </a:txBody>
                  <a:tcPr>
                    <a:solidFill>
                      <a:srgbClr val="131D33"/>
                    </a:solidFill>
                  </a:tcPr>
                </a:tc>
                <a:tc>
                  <a:txBody>
                    <a:bodyPr/>
                    <a:lstStyle/>
                    <a:p>
                      <a:r>
                        <a:rPr sz="1300" b="0">
                          <a:solidFill>
                            <a:srgbClr val="E6EDF3"/>
                          </a:solidFill>
                          <a:latin typeface="Segoe UI"/>
                        </a:rPr>
                        <a:t>25</a:t>
                      </a:r>
                    </a:p>
                  </a:txBody>
                  <a:tcPr>
                    <a:solidFill>
                      <a:srgbClr val="131D33"/>
                    </a:solidFill>
                  </a:tcPr>
                </a:tc>
              </a:tr>
              <a:tr h="441960">
                <a:tc>
                  <a:txBody>
                    <a:bodyPr/>
                    <a:lstStyle/>
                    <a:p>
                      <a:r>
                        <a:rPr sz="1300" b="0">
                          <a:solidFill>
                            <a:srgbClr val="E6EDF3"/>
                          </a:solidFill>
                          <a:latin typeface="Segoe UI"/>
                        </a:rPr>
                        <a:t>SUSPICIOUS_EXTENSION</a:t>
                      </a:r>
                    </a:p>
                  </a:txBody>
                  <a:tcPr>
                    <a:solidFill>
                      <a:srgbClr val="131D33"/>
                    </a:solidFill>
                  </a:tcPr>
                </a:tc>
                <a:tc>
                  <a:txBody>
                    <a:bodyPr/>
                    <a:lstStyle/>
                    <a:p>
                      <a:r>
                        <a:rPr sz="1300" b="0">
                          <a:solidFill>
                            <a:srgbClr val="E6EDF3"/>
                          </a:solidFill>
                          <a:latin typeface="Segoe UI"/>
                        </a:rPr>
                        <a:t>≥ 1 rename to e.g. .locked</a:t>
                      </a:r>
                    </a:p>
                  </a:txBody>
                  <a:tcPr>
                    <a:solidFill>
                      <a:srgbClr val="131D33"/>
                    </a:solidFill>
                  </a:tcPr>
                </a:tc>
                <a:tc>
                  <a:txBody>
                    <a:bodyPr/>
                    <a:lstStyle/>
                    <a:p>
                      <a:r>
                        <a:rPr sz="1300" b="0">
                          <a:solidFill>
                            <a:srgbClr val="E6EDF3"/>
                          </a:solidFill>
                          <a:latin typeface="Segoe UI"/>
                        </a:rPr>
                        <a:t>20</a:t>
                      </a:r>
                    </a:p>
                  </a:txBody>
                  <a:tcPr>
                    <a:solidFill>
                      <a:srgbClr val="131D33"/>
                    </a:solidFill>
                  </a:tcPr>
                </a:tc>
              </a:tr>
              <a:tr h="441960">
                <a:tc>
                  <a:txBody>
                    <a:bodyPr/>
                    <a:lstStyle/>
                    <a:p>
                      <a:r>
                        <a:rPr sz="1300" b="0">
                          <a:solidFill>
                            <a:srgbClr val="E6EDF3"/>
                          </a:solidFill>
                          <a:latin typeface="Segoe UI"/>
                        </a:rPr>
                        <a:t>MASS_FILE_CREATION</a:t>
                      </a:r>
                    </a:p>
                  </a:txBody>
                  <a:tcPr>
                    <a:solidFill>
                      <a:srgbClr val="131D33"/>
                    </a:solidFill>
                  </a:tcPr>
                </a:tc>
                <a:tc>
                  <a:txBody>
                    <a:bodyPr/>
                    <a:lstStyle/>
                    <a:p>
                      <a:r>
                        <a:rPr sz="1300" b="0">
                          <a:solidFill>
                            <a:srgbClr val="E6EDF3"/>
                          </a:solidFill>
                          <a:latin typeface="Segoe UI"/>
                        </a:rPr>
                        <a:t>50 creations / 30 s</a:t>
                      </a:r>
                    </a:p>
                  </a:txBody>
                  <a:tcPr>
                    <a:solidFill>
                      <a:srgbClr val="131D33"/>
                    </a:solidFill>
                  </a:tcPr>
                </a:tc>
                <a:tc>
                  <a:txBody>
                    <a:bodyPr/>
                    <a:lstStyle/>
                    <a:p>
                      <a:r>
                        <a:rPr sz="1300" b="0">
                          <a:solidFill>
                            <a:srgbClr val="E6EDF3"/>
                          </a:solidFill>
                          <a:latin typeface="Segoe UI"/>
                        </a:rPr>
                        <a:t>15</a:t>
                      </a:r>
                    </a:p>
                  </a:txBody>
                  <a:tcPr>
                    <a:solidFill>
                      <a:srgbClr val="131D33"/>
                    </a:solidFill>
                  </a:tcPr>
                </a:tc>
              </a:tr>
              <a:tr h="441960">
                <a:tc>
                  <a:txBody>
                    <a:bodyPr/>
                    <a:lstStyle/>
                    <a:p>
                      <a:r>
                        <a:rPr sz="1300" b="0">
                          <a:solidFill>
                            <a:srgbClr val="E6EDF3"/>
                          </a:solidFill>
                          <a:latin typeface="Segoe UI"/>
                        </a:rPr>
                        <a:t>HIGH_EVENT_CONCENTRATION</a:t>
                      </a:r>
                    </a:p>
                  </a:txBody>
                  <a:tcPr>
                    <a:solidFill>
                      <a:srgbClr val="131D33"/>
                    </a:solidFill>
                  </a:tcPr>
                </a:tc>
                <a:tc>
                  <a:txBody>
                    <a:bodyPr/>
                    <a:lstStyle/>
                    <a:p>
                      <a:r>
                        <a:rPr sz="1300" b="0">
                          <a:solidFill>
                            <a:srgbClr val="E6EDF3"/>
                          </a:solidFill>
                          <a:latin typeface="Segoe UI"/>
                        </a:rPr>
                        <a:t>75 events / 30 s</a:t>
                      </a:r>
                    </a:p>
                  </a:txBody>
                  <a:tcPr>
                    <a:solidFill>
                      <a:srgbClr val="131D33"/>
                    </a:solidFill>
                  </a:tcPr>
                </a:tc>
                <a:tc>
                  <a:txBody>
                    <a:bodyPr/>
                    <a:lstStyle/>
                    <a:p>
                      <a:r>
                        <a:rPr sz="1300" b="0">
                          <a:solidFill>
                            <a:srgbClr val="E6EDF3"/>
                          </a:solidFill>
                          <a:latin typeface="Segoe UI"/>
                        </a:rPr>
                        <a:t>15</a:t>
                      </a:r>
                    </a:p>
                  </a:txBody>
                  <a:tcPr>
                    <a:solidFill>
                      <a:srgbClr val="131D33"/>
                    </a:solidFill>
                  </a:tcPr>
                </a:tc>
              </a:tr>
            </a:tbl>
          </a:graphicData>
        </a:graphic>
      </p:graphicFrame>
      <p:sp>
        <p:nvSpPr>
          <p:cNvPr id="17" name="Rounded Rectangle 16"/>
          <p:cNvSpPr/>
          <p:nvPr/>
        </p:nvSpPr>
        <p:spPr>
          <a:xfrm>
            <a:off x="8046720" y="2880360"/>
            <a:ext cx="3474720" cy="2651760"/>
          </a:xfrm>
          <a:prstGeom prst="roundRect">
            <a:avLst>
              <a:gd name="adj" fmla="val 8000"/>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75320" y="3017520"/>
            <a:ext cx="310896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SEVERITY BANDS</a:t>
            </a:r>
          </a:p>
        </p:txBody>
      </p:sp>
      <p:sp>
        <p:nvSpPr>
          <p:cNvPr id="19" name="TextBox 18"/>
          <p:cNvSpPr txBox="1"/>
          <p:nvPr/>
        </p:nvSpPr>
        <p:spPr>
          <a:xfrm>
            <a:off x="8275320" y="3474720"/>
            <a:ext cx="1280160" cy="365760"/>
          </a:xfrm>
          <a:prstGeom prst="rect">
            <a:avLst/>
          </a:prstGeom>
          <a:noFill/>
        </p:spPr>
        <p:txBody>
          <a:bodyPr wrap="square" anchor="t" lIns="45720" rIns="45720">
            <a:spAutoFit/>
          </a:bodyPr>
          <a:lstStyle/>
          <a:p>
            <a:pPr algn="l">
              <a:lnSpc>
                <a:spcPct val="110000"/>
              </a:lnSpc>
            </a:pPr>
            <a:r>
              <a:rPr sz="1500" b="0">
                <a:solidFill>
                  <a:srgbClr val="94A3B8"/>
                </a:solidFill>
                <a:latin typeface="Segoe UI"/>
              </a:rPr>
              <a:t>0</a:t>
            </a:r>
          </a:p>
        </p:txBody>
      </p:sp>
      <p:sp>
        <p:nvSpPr>
          <p:cNvPr id="20" name="TextBox 19"/>
          <p:cNvSpPr txBox="1"/>
          <p:nvPr/>
        </p:nvSpPr>
        <p:spPr>
          <a:xfrm>
            <a:off x="9509760" y="3474720"/>
            <a:ext cx="1828800" cy="365760"/>
          </a:xfrm>
          <a:prstGeom prst="rect">
            <a:avLst/>
          </a:prstGeom>
          <a:noFill/>
        </p:spPr>
        <p:txBody>
          <a:bodyPr wrap="square" anchor="t" lIns="45720" rIns="45720">
            <a:spAutoFit/>
          </a:bodyPr>
          <a:lstStyle/>
          <a:p>
            <a:pPr algn="l">
              <a:lnSpc>
                <a:spcPct val="110000"/>
              </a:lnSpc>
            </a:pPr>
            <a:r>
              <a:rPr sz="1500" b="1">
                <a:solidFill>
                  <a:srgbClr val="94A3B8"/>
                </a:solidFill>
                <a:latin typeface="Segoe UI"/>
              </a:rPr>
              <a:t>NONE</a:t>
            </a:r>
          </a:p>
        </p:txBody>
      </p:sp>
      <p:sp>
        <p:nvSpPr>
          <p:cNvPr id="21" name="TextBox 20"/>
          <p:cNvSpPr txBox="1"/>
          <p:nvPr/>
        </p:nvSpPr>
        <p:spPr>
          <a:xfrm>
            <a:off x="8275320" y="3858768"/>
            <a:ext cx="1280160" cy="365760"/>
          </a:xfrm>
          <a:prstGeom prst="rect">
            <a:avLst/>
          </a:prstGeom>
          <a:noFill/>
        </p:spPr>
        <p:txBody>
          <a:bodyPr wrap="square" anchor="t" lIns="45720" rIns="45720">
            <a:spAutoFit/>
          </a:bodyPr>
          <a:lstStyle/>
          <a:p>
            <a:pPr algn="l">
              <a:lnSpc>
                <a:spcPct val="110000"/>
              </a:lnSpc>
            </a:pPr>
            <a:r>
              <a:rPr sz="1500" b="0">
                <a:solidFill>
                  <a:srgbClr val="94A3B8"/>
                </a:solidFill>
                <a:latin typeface="Segoe UI"/>
              </a:rPr>
              <a:t>1–29</a:t>
            </a:r>
          </a:p>
        </p:txBody>
      </p:sp>
      <p:sp>
        <p:nvSpPr>
          <p:cNvPr id="22" name="TextBox 21"/>
          <p:cNvSpPr txBox="1"/>
          <p:nvPr/>
        </p:nvSpPr>
        <p:spPr>
          <a:xfrm>
            <a:off x="9509760" y="3858768"/>
            <a:ext cx="1828800" cy="365760"/>
          </a:xfrm>
          <a:prstGeom prst="rect">
            <a:avLst/>
          </a:prstGeom>
          <a:noFill/>
        </p:spPr>
        <p:txBody>
          <a:bodyPr wrap="square" anchor="t" lIns="45720" rIns="45720">
            <a:spAutoFit/>
          </a:bodyPr>
          <a:lstStyle/>
          <a:p>
            <a:pPr algn="l">
              <a:lnSpc>
                <a:spcPct val="110000"/>
              </a:lnSpc>
            </a:pPr>
            <a:r>
              <a:rPr sz="1500" b="1">
                <a:solidFill>
                  <a:srgbClr val="34D399"/>
                </a:solidFill>
                <a:latin typeface="Segoe UI"/>
              </a:rPr>
              <a:t>LOW</a:t>
            </a:r>
          </a:p>
        </p:txBody>
      </p:sp>
      <p:sp>
        <p:nvSpPr>
          <p:cNvPr id="23" name="TextBox 22"/>
          <p:cNvSpPr txBox="1"/>
          <p:nvPr/>
        </p:nvSpPr>
        <p:spPr>
          <a:xfrm>
            <a:off x="8275320" y="4242816"/>
            <a:ext cx="1280160" cy="365760"/>
          </a:xfrm>
          <a:prstGeom prst="rect">
            <a:avLst/>
          </a:prstGeom>
          <a:noFill/>
        </p:spPr>
        <p:txBody>
          <a:bodyPr wrap="square" anchor="t" lIns="45720" rIns="45720">
            <a:spAutoFit/>
          </a:bodyPr>
          <a:lstStyle/>
          <a:p>
            <a:pPr algn="l">
              <a:lnSpc>
                <a:spcPct val="110000"/>
              </a:lnSpc>
            </a:pPr>
            <a:r>
              <a:rPr sz="1500" b="0">
                <a:solidFill>
                  <a:srgbClr val="94A3B8"/>
                </a:solidFill>
                <a:latin typeface="Segoe UI"/>
              </a:rPr>
              <a:t>30–59</a:t>
            </a:r>
          </a:p>
        </p:txBody>
      </p:sp>
      <p:sp>
        <p:nvSpPr>
          <p:cNvPr id="24" name="TextBox 23"/>
          <p:cNvSpPr txBox="1"/>
          <p:nvPr/>
        </p:nvSpPr>
        <p:spPr>
          <a:xfrm>
            <a:off x="9509760" y="4242816"/>
            <a:ext cx="1828800" cy="365760"/>
          </a:xfrm>
          <a:prstGeom prst="rect">
            <a:avLst/>
          </a:prstGeom>
          <a:noFill/>
        </p:spPr>
        <p:txBody>
          <a:bodyPr wrap="square" anchor="t" lIns="45720" rIns="45720">
            <a:spAutoFit/>
          </a:bodyPr>
          <a:lstStyle/>
          <a:p>
            <a:pPr algn="l">
              <a:lnSpc>
                <a:spcPct val="110000"/>
              </a:lnSpc>
            </a:pPr>
            <a:r>
              <a:rPr sz="1500" b="1">
                <a:solidFill>
                  <a:srgbClr val="F59E0B"/>
                </a:solidFill>
                <a:latin typeface="Segoe UI"/>
              </a:rPr>
              <a:t>MEDIUM</a:t>
            </a:r>
          </a:p>
        </p:txBody>
      </p:sp>
      <p:sp>
        <p:nvSpPr>
          <p:cNvPr id="25" name="TextBox 24"/>
          <p:cNvSpPr txBox="1"/>
          <p:nvPr/>
        </p:nvSpPr>
        <p:spPr>
          <a:xfrm>
            <a:off x="8275320" y="4626864"/>
            <a:ext cx="1280160" cy="365760"/>
          </a:xfrm>
          <a:prstGeom prst="rect">
            <a:avLst/>
          </a:prstGeom>
          <a:noFill/>
        </p:spPr>
        <p:txBody>
          <a:bodyPr wrap="square" anchor="t" lIns="45720" rIns="45720">
            <a:spAutoFit/>
          </a:bodyPr>
          <a:lstStyle/>
          <a:p>
            <a:pPr algn="l">
              <a:lnSpc>
                <a:spcPct val="110000"/>
              </a:lnSpc>
            </a:pPr>
            <a:r>
              <a:rPr sz="1500" b="0">
                <a:solidFill>
                  <a:srgbClr val="94A3B8"/>
                </a:solidFill>
                <a:latin typeface="Segoe UI"/>
              </a:rPr>
              <a:t>60–79</a:t>
            </a:r>
          </a:p>
        </p:txBody>
      </p:sp>
      <p:sp>
        <p:nvSpPr>
          <p:cNvPr id="26" name="TextBox 25"/>
          <p:cNvSpPr txBox="1"/>
          <p:nvPr/>
        </p:nvSpPr>
        <p:spPr>
          <a:xfrm>
            <a:off x="9509760" y="4626864"/>
            <a:ext cx="1828800" cy="365760"/>
          </a:xfrm>
          <a:prstGeom prst="rect">
            <a:avLst/>
          </a:prstGeom>
          <a:noFill/>
        </p:spPr>
        <p:txBody>
          <a:bodyPr wrap="square" anchor="t" lIns="45720" rIns="45720">
            <a:spAutoFit/>
          </a:bodyPr>
          <a:lstStyle/>
          <a:p>
            <a:pPr algn="l">
              <a:lnSpc>
                <a:spcPct val="110000"/>
              </a:lnSpc>
            </a:pPr>
            <a:r>
              <a:rPr sz="1500" b="1">
                <a:solidFill>
                  <a:srgbClr val="F87171"/>
                </a:solidFill>
                <a:latin typeface="Segoe UI"/>
              </a:rPr>
              <a:t>HIGH</a:t>
            </a:r>
          </a:p>
        </p:txBody>
      </p:sp>
      <p:sp>
        <p:nvSpPr>
          <p:cNvPr id="27" name="TextBox 26"/>
          <p:cNvSpPr txBox="1"/>
          <p:nvPr/>
        </p:nvSpPr>
        <p:spPr>
          <a:xfrm>
            <a:off x="8275320" y="5010912"/>
            <a:ext cx="1280160" cy="365760"/>
          </a:xfrm>
          <a:prstGeom prst="rect">
            <a:avLst/>
          </a:prstGeom>
          <a:noFill/>
        </p:spPr>
        <p:txBody>
          <a:bodyPr wrap="square" anchor="t" lIns="45720" rIns="45720">
            <a:spAutoFit/>
          </a:bodyPr>
          <a:lstStyle/>
          <a:p>
            <a:pPr algn="l">
              <a:lnSpc>
                <a:spcPct val="110000"/>
              </a:lnSpc>
            </a:pPr>
            <a:r>
              <a:rPr sz="1500" b="0">
                <a:solidFill>
                  <a:srgbClr val="94A3B8"/>
                </a:solidFill>
                <a:latin typeface="Segoe UI"/>
              </a:rPr>
              <a:t>80–100</a:t>
            </a:r>
          </a:p>
        </p:txBody>
      </p:sp>
      <p:sp>
        <p:nvSpPr>
          <p:cNvPr id="28" name="TextBox 27"/>
          <p:cNvSpPr txBox="1"/>
          <p:nvPr/>
        </p:nvSpPr>
        <p:spPr>
          <a:xfrm>
            <a:off x="9509760" y="5010912"/>
            <a:ext cx="1828800" cy="365760"/>
          </a:xfrm>
          <a:prstGeom prst="rect">
            <a:avLst/>
          </a:prstGeom>
          <a:noFill/>
        </p:spPr>
        <p:txBody>
          <a:bodyPr wrap="square" anchor="t" lIns="45720" rIns="45720">
            <a:spAutoFit/>
          </a:bodyPr>
          <a:lstStyle/>
          <a:p>
            <a:pPr algn="l">
              <a:lnSpc>
                <a:spcPct val="110000"/>
              </a:lnSpc>
            </a:pPr>
            <a:r>
              <a:rPr sz="1500" b="1">
                <a:solidFill>
                  <a:srgbClr val="F87171"/>
                </a:solidFill>
                <a:latin typeface="Segoe UI"/>
              </a:rPr>
              <a:t>CRITICAL</a:t>
            </a:r>
          </a:p>
        </p:txBody>
      </p:sp>
      <p:sp>
        <p:nvSpPr>
          <p:cNvPr id="29" name="TextBox 28"/>
          <p:cNvSpPr txBox="1"/>
          <p:nvPr/>
        </p:nvSpPr>
        <p:spPr>
          <a:xfrm>
            <a:off x="777240" y="5715000"/>
            <a:ext cx="10607040" cy="457200"/>
          </a:xfrm>
          <a:prstGeom prst="rect">
            <a:avLst/>
          </a:prstGeom>
          <a:noFill/>
        </p:spPr>
        <p:txBody>
          <a:bodyPr wrap="square" anchor="t" lIns="45720" rIns="45720">
            <a:spAutoFit/>
          </a:bodyPr>
          <a:lstStyle/>
          <a:p>
            <a:pPr algn="l">
              <a:lnSpc>
                <a:spcPct val="110000"/>
              </a:lnSpc>
            </a:pPr>
            <a:r>
              <a:rPr sz="1300" b="0">
                <a:solidFill>
                  <a:srgbClr val="94A3B8"/>
                </a:solidFill>
                <a:latin typeface="Segoe UI"/>
              </a:rPr>
              <a:t>Thresholds are configurable. The risk engine is the only place a score becomes a severity; every alert lists the rules and points behind it.</a:t>
            </a:r>
          </a:p>
        </p:txBody>
      </p:sp>
      <p:sp>
        <p:nvSpPr>
          <p:cNvPr id="30" name="TextBox 29"/>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31" name="TextBox 30"/>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INVESTIGATION, RESPONSE AND AUDIT</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One incident per attack, every action recorded</a:t>
            </a:r>
          </a:p>
        </p:txBody>
      </p:sp>
      <p:sp>
        <p:nvSpPr>
          <p:cNvPr id="5" name="Rounded Rectangle 4"/>
          <p:cNvSpPr/>
          <p:nvPr/>
        </p:nvSpPr>
        <p:spPr>
          <a:xfrm>
            <a:off x="777240" y="1783080"/>
            <a:ext cx="1188720" cy="640080"/>
          </a:xfrm>
          <a:prstGeom prst="roundRect">
            <a:avLst>
              <a:gd name="adj" fmla="val 8000"/>
            </a:avLst>
          </a:prstGeom>
          <a:solidFill>
            <a:srgbClr val="1B2845"/>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E6EDF3"/>
                </a:solidFill>
                <a:latin typeface="Segoe UI"/>
              </a:rPr>
              <a:t>OPEN</a:t>
            </a:r>
          </a:p>
        </p:txBody>
      </p:sp>
      <p:cxnSp>
        <p:nvCxnSpPr>
          <p:cNvPr id="6" name="Connector 5"/>
          <p:cNvCxnSpPr/>
          <p:nvPr/>
        </p:nvCxnSpPr>
        <p:spPr>
          <a:xfrm>
            <a:off x="1965960" y="2103120"/>
            <a:ext cx="155448"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21408" y="1783080"/>
            <a:ext cx="1600200" cy="640080"/>
          </a:xfrm>
          <a:prstGeom prst="roundRect">
            <a:avLst>
              <a:gd name="adj" fmla="val 8000"/>
            </a:avLst>
          </a:prstGeom>
          <a:solidFill>
            <a:srgbClr val="1B2845"/>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E6EDF3"/>
                </a:solidFill>
                <a:latin typeface="Segoe UI"/>
              </a:rPr>
              <a:t>INVESTIGATING</a:t>
            </a:r>
          </a:p>
        </p:txBody>
      </p:sp>
      <p:cxnSp>
        <p:nvCxnSpPr>
          <p:cNvPr id="8" name="Connector 7"/>
          <p:cNvCxnSpPr/>
          <p:nvPr/>
        </p:nvCxnSpPr>
        <p:spPr>
          <a:xfrm>
            <a:off x="3721608" y="2103120"/>
            <a:ext cx="155448"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877056" y="1783080"/>
            <a:ext cx="1874519" cy="640080"/>
          </a:xfrm>
          <a:prstGeom prst="roundRect">
            <a:avLst>
              <a:gd name="adj" fmla="val 8000"/>
            </a:avLst>
          </a:prstGeom>
          <a:solidFill>
            <a:srgbClr val="1B2845"/>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E6EDF3"/>
                </a:solidFill>
                <a:latin typeface="Segoe UI"/>
              </a:rPr>
              <a:t>CONTAINED / QUARANTINED</a:t>
            </a:r>
          </a:p>
        </p:txBody>
      </p:sp>
      <p:cxnSp>
        <p:nvCxnSpPr>
          <p:cNvPr id="10" name="Connector 9"/>
          <p:cNvCxnSpPr/>
          <p:nvPr/>
        </p:nvCxnSpPr>
        <p:spPr>
          <a:xfrm>
            <a:off x="5751575" y="2103120"/>
            <a:ext cx="155448" cy="0"/>
          </a:xfrm>
          <a:prstGeom prst="line">
            <a:avLst/>
          </a:prstGeom>
          <a:ln w="25400">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907023" y="1783080"/>
            <a:ext cx="1280160" cy="640080"/>
          </a:xfrm>
          <a:prstGeom prst="roundRect">
            <a:avLst>
              <a:gd name="adj" fmla="val 8000"/>
            </a:avLst>
          </a:prstGeom>
          <a:solidFill>
            <a:srgbClr val="1B28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E6EDF3"/>
                </a:solidFill>
                <a:latin typeface="Segoe UI"/>
              </a:rPr>
              <a:t>RESOLVED</a:t>
            </a:r>
          </a:p>
        </p:txBody>
      </p:sp>
      <p:sp>
        <p:nvSpPr>
          <p:cNvPr id="12" name="Rounded Rectangle 11"/>
          <p:cNvSpPr/>
          <p:nvPr/>
        </p:nvSpPr>
        <p:spPr>
          <a:xfrm>
            <a:off x="777240" y="2606040"/>
            <a:ext cx="1188720" cy="502920"/>
          </a:xfrm>
          <a:prstGeom prst="roundRect">
            <a:avLst>
              <a:gd name="adj" fmla="val 8000"/>
            </a:avLst>
          </a:prstGeom>
          <a:solidFill>
            <a:srgbClr val="1B2845"/>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E6EDF3"/>
                </a:solidFill>
                <a:latin typeface="Segoe UI"/>
              </a:rPr>
              <a:t>DISMISSED</a:t>
            </a:r>
          </a:p>
        </p:txBody>
      </p:sp>
      <p:sp>
        <p:nvSpPr>
          <p:cNvPr id="13" name="TextBox 12"/>
          <p:cNvSpPr txBox="1"/>
          <p:nvPr/>
        </p:nvSpPr>
        <p:spPr>
          <a:xfrm>
            <a:off x="777240" y="3337560"/>
            <a:ext cx="6309360" cy="2743200"/>
          </a:xfrm>
          <a:prstGeom prst="rect">
            <a:avLst/>
          </a:prstGeom>
          <a:noFill/>
        </p:spPr>
        <p:txBody>
          <a:bodyPr wrap="square">
            <a:spAutoFit/>
          </a:bodyPr>
          <a:lstStyle/>
          <a:p>
            <a:pPr>
              <a:spcAft>
                <a:spcPts val="900"/>
              </a:spcAft>
            </a:pPr>
            <a:r>
              <a:rPr sz="1500">
                <a:solidFill>
                  <a:srgbClr val="38BDF8"/>
                </a:solidFill>
                <a:latin typeface="Segoe UI"/>
              </a:rPr>
              <a:t>▸  </a:t>
            </a:r>
            <a:r>
              <a:rPr sz="1500" b="1">
                <a:solidFill>
                  <a:srgbClr val="E6EDF3"/>
                </a:solidFill>
                <a:latin typeface="Segoe UI"/>
              </a:rPr>
              <a:t>Evidence:</a:t>
            </a:r>
            <a:r>
              <a:rPr sz="1500">
                <a:solidFill>
                  <a:srgbClr val="94A3B8"/>
                </a:solidFill>
                <a:latin typeface="Segoe UI"/>
              </a:rPr>
              <a:t>  rule contributions, per-file history across renames, linked alerts.</a:t>
            </a:r>
          </a:p>
          <a:p>
            <a:pPr>
              <a:spcAft>
                <a:spcPts val="900"/>
              </a:spcAft>
            </a:pPr>
            <a:r>
              <a:rPr sz="1500">
                <a:solidFill>
                  <a:srgbClr val="38BDF8"/>
                </a:solidFill>
                <a:latin typeface="Segoe UI"/>
              </a:rPr>
              <a:t>▸  </a:t>
            </a:r>
            <a:r>
              <a:rPr sz="1500" b="1">
                <a:solidFill>
                  <a:srgbClr val="E6EDF3"/>
                </a:solidFill>
                <a:latin typeface="Segoe UI"/>
              </a:rPr>
              <a:t>Response:</a:t>
            </a:r>
            <a:r>
              <a:rPr sz="1500">
                <a:solidFill>
                  <a:srgbClr val="94A3B8"/>
                </a:solidFill>
                <a:latin typeface="Segoe UI"/>
              </a:rPr>
              <a:t>  acknowledge, investigate, quarantine, restore, trust, resolve, dismiss.</a:t>
            </a:r>
          </a:p>
          <a:p>
            <a:pPr>
              <a:spcAft>
                <a:spcPts val="900"/>
              </a:spcAft>
            </a:pPr>
            <a:r>
              <a:rPr sz="1500">
                <a:solidFill>
                  <a:srgbClr val="38BDF8"/>
                </a:solidFill>
                <a:latin typeface="Segoe UI"/>
              </a:rPr>
              <a:t>▸  </a:t>
            </a:r>
            <a:r>
              <a:rPr sz="1500" b="1">
                <a:solidFill>
                  <a:srgbClr val="E6EDF3"/>
                </a:solidFill>
                <a:latin typeface="Segoe UI"/>
              </a:rPr>
              <a:t>Quarantine</a:t>
            </a:r>
            <a:r>
              <a:rPr sz="1500">
                <a:solidFill>
                  <a:srgbClr val="94A3B8"/>
                </a:solidFill>
                <a:latin typeface="Segoe UI"/>
              </a:rPr>
              <a:t>  is containment, not isolation; restore verifies the SHA-256 first.</a:t>
            </a:r>
          </a:p>
          <a:p>
            <a:pPr>
              <a:spcAft>
                <a:spcPts val="900"/>
              </a:spcAft>
            </a:pPr>
            <a:r>
              <a:rPr sz="1500">
                <a:solidFill>
                  <a:srgbClr val="38BDF8"/>
                </a:solidFill>
                <a:latin typeface="Segoe UI"/>
              </a:rPr>
              <a:t>▸  </a:t>
            </a:r>
            <a:r>
              <a:rPr sz="1500" b="1">
                <a:solidFill>
                  <a:srgbClr val="E6EDF3"/>
                </a:solidFill>
                <a:latin typeface="Segoe UI"/>
              </a:rPr>
              <a:t>Trust</a:t>
            </a:r>
            <a:r>
              <a:rPr sz="1500">
                <a:solidFill>
                  <a:srgbClr val="94A3B8"/>
                </a:solidFill>
                <a:latin typeface="Segoe UI"/>
              </a:rPr>
              <a:t>  is bound to an executable's hash, with a reason, expiry and revocation.</a:t>
            </a:r>
          </a:p>
          <a:p>
            <a:pPr>
              <a:spcAft>
                <a:spcPts val="900"/>
              </a:spcAft>
            </a:pPr>
            <a:r>
              <a:rPr sz="1500">
                <a:solidFill>
                  <a:srgbClr val="38BDF8"/>
                </a:solidFill>
                <a:latin typeface="Segoe UI"/>
              </a:rPr>
              <a:t>▸  </a:t>
            </a:r>
            <a:r>
              <a:rPr sz="1500" b="1">
                <a:solidFill>
                  <a:srgbClr val="E6EDF3"/>
                </a:solidFill>
                <a:latin typeface="Segoe UI"/>
              </a:rPr>
              <a:t>Audit:</a:t>
            </a:r>
            <a:r>
              <a:rPr sz="1500">
                <a:solidFill>
                  <a:srgbClr val="94A3B8"/>
                </a:solidFill>
                <a:latin typeface="Segoe UI"/>
              </a:rPr>
              <a:t>  HMAC-SHA256 chain with an anchor; verified at startup and on demand.</a:t>
            </a:r>
          </a:p>
        </p:txBody>
      </p:sp>
      <p:sp>
        <p:nvSpPr>
          <p:cNvPr id="14" name="Rectangle 13"/>
          <p:cNvSpPr/>
          <p:nvPr/>
        </p:nvSpPr>
        <p:spPr>
          <a:xfrm>
            <a:off x="7315200" y="1737360"/>
            <a:ext cx="4251960" cy="2691765"/>
          </a:xfrm>
          <a:prstGeom prst="rect">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23-incident-contained.png"/>
          <p:cNvPicPr>
            <a:picLocks noChangeAspect="1"/>
          </p:cNvPicPr>
          <p:nvPr/>
        </p:nvPicPr>
        <p:blipFill>
          <a:blip r:embed="rId2"/>
          <a:stretch>
            <a:fillRect/>
          </a:stretch>
        </p:blipFill>
        <p:spPr>
          <a:xfrm>
            <a:off x="7360920" y="1783080"/>
            <a:ext cx="4160520" cy="2600325"/>
          </a:xfrm>
          <a:prstGeom prst="rect">
            <a:avLst/>
          </a:prstGeom>
        </p:spPr>
      </p:pic>
      <p:sp>
        <p:nvSpPr>
          <p:cNvPr id="16" name="TextBox 15"/>
          <p:cNvSpPr txBox="1"/>
          <p:nvPr/>
        </p:nvSpPr>
        <p:spPr>
          <a:xfrm>
            <a:off x="7360920" y="4456557"/>
            <a:ext cx="4160520" cy="320040"/>
          </a:xfrm>
          <a:prstGeom prst="rect">
            <a:avLst/>
          </a:prstGeom>
          <a:noFill/>
        </p:spPr>
        <p:txBody>
          <a:bodyPr wrap="square" anchor="t" lIns="45720" rIns="45720">
            <a:spAutoFit/>
          </a:bodyPr>
          <a:lstStyle/>
          <a:p>
            <a:pPr algn="l">
              <a:lnSpc>
                <a:spcPct val="110000"/>
              </a:lnSpc>
            </a:pPr>
            <a:r>
              <a:rPr sz="1100" b="0">
                <a:solidFill>
                  <a:srgbClr val="94A3B8"/>
                </a:solidFill>
                <a:latin typeface="Segoe UI"/>
              </a:rPr>
              <a:t>Incident detail after quarantine (documentation data)</a:t>
            </a:r>
          </a:p>
        </p:txBody>
      </p:sp>
      <p:sp>
        <p:nvSpPr>
          <p:cNvPr id="17" name="TextBox 16"/>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8" name="TextBox 17"/>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PRODUCT EXPERIENCE</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2600" b="1">
                <a:solidFill>
                  <a:srgbClr val="E6EDF3"/>
                </a:solidFill>
                <a:latin typeface="Segoe UI"/>
              </a:rPr>
              <a:t>Always clear: the state, the problem, the next step</a:t>
            </a:r>
          </a:p>
        </p:txBody>
      </p:sp>
      <p:sp>
        <p:nvSpPr>
          <p:cNvPr id="5" name="Rectangle 4"/>
          <p:cNvSpPr/>
          <p:nvPr/>
        </p:nvSpPr>
        <p:spPr>
          <a:xfrm>
            <a:off x="731520" y="1691640"/>
            <a:ext cx="6126480" cy="3863340"/>
          </a:xfrm>
          <a:prstGeom prst="rect">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8-dashboard-protection-active.png"/>
          <p:cNvPicPr>
            <a:picLocks noChangeAspect="1"/>
          </p:cNvPicPr>
          <p:nvPr/>
        </p:nvPicPr>
        <p:blipFill>
          <a:blip r:embed="rId2"/>
          <a:stretch>
            <a:fillRect/>
          </a:stretch>
        </p:blipFill>
        <p:spPr>
          <a:xfrm>
            <a:off x="777240" y="1737360"/>
            <a:ext cx="6035040" cy="3771900"/>
          </a:xfrm>
          <a:prstGeom prst="rect">
            <a:avLst/>
          </a:prstGeom>
        </p:spPr>
      </p:pic>
      <p:sp>
        <p:nvSpPr>
          <p:cNvPr id="7" name="TextBox 6"/>
          <p:cNvSpPr txBox="1"/>
          <p:nvPr/>
        </p:nvSpPr>
        <p:spPr>
          <a:xfrm>
            <a:off x="777240" y="5582412"/>
            <a:ext cx="6035040" cy="320040"/>
          </a:xfrm>
          <a:prstGeom prst="rect">
            <a:avLst/>
          </a:prstGeom>
          <a:noFill/>
        </p:spPr>
        <p:txBody>
          <a:bodyPr wrap="square" anchor="t" lIns="45720" rIns="45720">
            <a:spAutoFit/>
          </a:bodyPr>
          <a:lstStyle/>
          <a:p>
            <a:pPr algn="l">
              <a:lnSpc>
                <a:spcPct val="110000"/>
              </a:lnSpc>
            </a:pPr>
            <a:r>
              <a:rPr sz="1100" b="0">
                <a:solidFill>
                  <a:srgbClr val="94A3B8"/>
                </a:solidFill>
                <a:latin typeface="Segoe UI"/>
              </a:rPr>
              <a:t>Dashboard: next step, protection status, posture, threats</a:t>
            </a:r>
          </a:p>
        </p:txBody>
      </p:sp>
      <p:sp>
        <p:nvSpPr>
          <p:cNvPr id="8" name="TextBox 7"/>
          <p:cNvSpPr txBox="1"/>
          <p:nvPr/>
        </p:nvSpPr>
        <p:spPr>
          <a:xfrm>
            <a:off x="7178040" y="1737360"/>
            <a:ext cx="4389120" cy="4206240"/>
          </a:xfrm>
          <a:prstGeom prst="rect">
            <a:avLst/>
          </a:prstGeom>
          <a:noFill/>
        </p:spPr>
        <p:txBody>
          <a:bodyPr wrap="square">
            <a:spAutoFit/>
          </a:bodyPr>
          <a:lstStyle/>
          <a:p>
            <a:pPr>
              <a:spcAft>
                <a:spcPts val="1100"/>
              </a:spcAft>
            </a:pPr>
            <a:r>
              <a:rPr sz="1500">
                <a:solidFill>
                  <a:srgbClr val="38BDF8"/>
                </a:solidFill>
                <a:latin typeface="Segoe UI"/>
              </a:rPr>
              <a:t>▸  </a:t>
            </a:r>
            <a:r>
              <a:rPr sz="1500" b="1">
                <a:solidFill>
                  <a:srgbClr val="E6EDF3"/>
                </a:solidFill>
                <a:latin typeface="Segoe UI"/>
              </a:rPr>
              <a:t>First-run setup:</a:t>
            </a:r>
            <a:r>
              <a:rPr sz="1500">
                <a:solidFill>
                  <a:srgbClr val="94A3B8"/>
                </a:solidFill>
                <a:latin typeface="Segoe UI"/>
              </a:rPr>
              <a:t>  welcome, locations, initial scan, protection active.</a:t>
            </a:r>
          </a:p>
          <a:p>
            <a:pPr>
              <a:spcAft>
                <a:spcPts val="1100"/>
              </a:spcAft>
            </a:pPr>
            <a:r>
              <a:rPr sz="1500">
                <a:solidFill>
                  <a:srgbClr val="38BDF8"/>
                </a:solidFill>
                <a:latin typeface="Segoe UI"/>
              </a:rPr>
              <a:t>▸  </a:t>
            </a:r>
            <a:r>
              <a:rPr sz="1500" b="1">
                <a:solidFill>
                  <a:srgbClr val="E6EDF3"/>
                </a:solidFill>
                <a:latin typeface="Segoe UI"/>
              </a:rPr>
              <a:t>Guided tour:</a:t>
            </a:r>
            <a:r>
              <a:rPr sz="1500">
                <a:solidFill>
                  <a:srgbClr val="94A3B8"/>
                </a:solidFill>
                <a:latin typeface="Segoe UI"/>
              </a:rPr>
              <a:t>  eleven steps that highlight the real controls and say what to do.</a:t>
            </a:r>
          </a:p>
          <a:p>
            <a:pPr>
              <a:spcAft>
                <a:spcPts val="1100"/>
              </a:spcAft>
            </a:pPr>
            <a:r>
              <a:rPr sz="1500">
                <a:solidFill>
                  <a:srgbClr val="38BDF8"/>
                </a:solidFill>
                <a:latin typeface="Segoe UI"/>
              </a:rPr>
              <a:t>▸  </a:t>
            </a:r>
            <a:r>
              <a:rPr sz="1500" b="1">
                <a:solidFill>
                  <a:srgbClr val="E6EDF3"/>
                </a:solidFill>
                <a:latin typeface="Segoe UI"/>
              </a:rPr>
              <a:t>Next step banner:</a:t>
            </a:r>
            <a:r>
              <a:rPr sz="1500">
                <a:solidFill>
                  <a:srgbClr val="94A3B8"/>
                </a:solidFill>
                <a:latin typeface="Segoe UI"/>
              </a:rPr>
              <a:t>  one recommended action, decided from the real state.</a:t>
            </a:r>
          </a:p>
          <a:p>
            <a:pPr>
              <a:spcAft>
                <a:spcPts val="1100"/>
              </a:spcAft>
            </a:pPr>
            <a:r>
              <a:rPr sz="1500">
                <a:solidFill>
                  <a:srgbClr val="38BDF8"/>
                </a:solidFill>
                <a:latin typeface="Segoe UI"/>
              </a:rPr>
              <a:t>▸  </a:t>
            </a:r>
            <a:r>
              <a:rPr sz="1500" b="1">
                <a:solidFill>
                  <a:srgbClr val="E6EDF3"/>
                </a:solidFill>
                <a:latin typeface="Segoe UI"/>
              </a:rPr>
              <a:t>Workflow navigation:</a:t>
            </a:r>
            <a:r>
              <a:rPr sz="1500">
                <a:solidFill>
                  <a:srgbClr val="94A3B8"/>
                </a:solidFill>
                <a:latin typeface="Segoe UI"/>
              </a:rPr>
              <a:t>  Protect › Investigate › Respond › Verify, plus Learn.</a:t>
            </a:r>
          </a:p>
          <a:p>
            <a:pPr>
              <a:spcAft>
                <a:spcPts val="1100"/>
              </a:spcAft>
            </a:pPr>
            <a:r>
              <a:rPr sz="1500">
                <a:solidFill>
                  <a:srgbClr val="38BDF8"/>
                </a:solidFill>
                <a:latin typeface="Segoe UI"/>
              </a:rPr>
              <a:t>▸  </a:t>
            </a:r>
            <a:r>
              <a:rPr sz="1500" b="1">
                <a:solidFill>
                  <a:srgbClr val="E6EDF3"/>
                </a:solidFill>
                <a:latin typeface="Segoe UI"/>
              </a:rPr>
              <a:t>Contextual help:</a:t>
            </a:r>
            <a:r>
              <a:rPr sz="1500">
                <a:solidFill>
                  <a:srgbClr val="94A3B8"/>
                </a:solidFill>
                <a:latin typeface="Segoe UI"/>
              </a:rPr>
              <a:t>  short explanations of risk score, incident, quarantine…</a:t>
            </a:r>
          </a:p>
        </p:txBody>
      </p:sp>
      <p:sp>
        <p:nvSpPr>
          <p:cNvPr id="9" name="TextBox 8"/>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0" name="TextBox 9"/>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TESTING AND VALIDATION</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Automated, randomised, and run in the real app</a:t>
            </a:r>
          </a:p>
        </p:txBody>
      </p:sp>
      <p:sp>
        <p:nvSpPr>
          <p:cNvPr id="5" name="Rounded Rectangle 4"/>
          <p:cNvSpPr/>
          <p:nvPr/>
        </p:nvSpPr>
        <p:spPr>
          <a:xfrm>
            <a:off x="777240" y="1783080"/>
            <a:ext cx="4572000" cy="2377440"/>
          </a:xfrm>
          <a:prstGeom prst="roundRect">
            <a:avLst>
              <a:gd name="adj" fmla="val 8000"/>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1965960"/>
            <a:ext cx="420624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FULL SUITE (RANDOMISED ORDER)</a:t>
            </a:r>
          </a:p>
        </p:txBody>
      </p:sp>
      <p:sp>
        <p:nvSpPr>
          <p:cNvPr id="7" name="TextBox 6"/>
          <p:cNvSpPr txBox="1"/>
          <p:nvPr/>
        </p:nvSpPr>
        <p:spPr>
          <a:xfrm>
            <a:off x="1005840" y="2377440"/>
            <a:ext cx="4206240" cy="914400"/>
          </a:xfrm>
          <a:prstGeom prst="rect">
            <a:avLst/>
          </a:prstGeom>
          <a:noFill/>
        </p:spPr>
        <p:txBody>
          <a:bodyPr wrap="square" anchor="t" lIns="45720" rIns="45720">
            <a:spAutoFit/>
          </a:bodyPr>
          <a:lstStyle/>
          <a:p>
            <a:pPr algn="l">
              <a:lnSpc>
                <a:spcPct val="110000"/>
              </a:lnSpc>
            </a:pPr>
            <a:r>
              <a:rPr sz="2000" b="1">
                <a:solidFill>
                  <a:srgbClr val="34D399"/>
                </a:solidFill>
                <a:latin typeface="Segoe UI"/>
              </a:rPr>
              <a:t>1389 passed, 2 skipped, 0 failed</a:t>
            </a:r>
          </a:p>
        </p:txBody>
      </p:sp>
      <p:sp>
        <p:nvSpPr>
          <p:cNvPr id="8" name="TextBox 7"/>
          <p:cNvSpPr txBox="1"/>
          <p:nvPr/>
        </p:nvSpPr>
        <p:spPr>
          <a:xfrm>
            <a:off x="1005840" y="3246120"/>
            <a:ext cx="4206240" cy="822960"/>
          </a:xfrm>
          <a:prstGeom prst="rect">
            <a:avLst/>
          </a:prstGeom>
          <a:noFill/>
        </p:spPr>
        <p:txBody>
          <a:bodyPr wrap="square" anchor="t" lIns="45720" rIns="45720">
            <a:spAutoFit/>
          </a:bodyPr>
          <a:lstStyle/>
          <a:p>
            <a:pPr algn="l">
              <a:lnSpc>
                <a:spcPct val="110000"/>
              </a:lnSpc>
            </a:pPr>
            <a:r>
              <a:rPr sz="1300" b="0">
                <a:solidFill>
                  <a:srgbClr val="94A3B8"/>
                </a:solidFill>
                <a:latin typeface="Segoe UI"/>
              </a:rPr>
              <a:t>1391 tests collected · pytest-randomly · 150 s per-test timeout · 2 skips need admin rights (symlink tests)</a:t>
            </a:r>
          </a:p>
        </p:txBody>
      </p:sp>
      <p:sp>
        <p:nvSpPr>
          <p:cNvPr id="9" name="TextBox 8"/>
          <p:cNvSpPr txBox="1"/>
          <p:nvPr/>
        </p:nvSpPr>
        <p:spPr>
          <a:xfrm>
            <a:off x="5669280" y="1783080"/>
            <a:ext cx="5852160" cy="4206240"/>
          </a:xfrm>
          <a:prstGeom prst="rect">
            <a:avLst/>
          </a:prstGeom>
          <a:noFill/>
        </p:spPr>
        <p:txBody>
          <a:bodyPr wrap="square">
            <a:spAutoFit/>
          </a:bodyPr>
          <a:lstStyle/>
          <a:p>
            <a:pPr>
              <a:spcAft>
                <a:spcPts val="900"/>
              </a:spcAft>
            </a:pPr>
            <a:r>
              <a:rPr sz="1500">
                <a:solidFill>
                  <a:srgbClr val="38BDF8"/>
                </a:solidFill>
                <a:latin typeface="Segoe UI"/>
              </a:rPr>
              <a:t>▸  </a:t>
            </a:r>
            <a:r>
              <a:rPr sz="1500" b="1">
                <a:solidFill>
                  <a:srgbClr val="E6EDF3"/>
                </a:solidFill>
                <a:latin typeface="Segoe UI"/>
              </a:rPr>
              <a:t>Unit:</a:t>
            </a:r>
            <a:r>
              <a:rPr sz="1500">
                <a:solidFill>
                  <a:srgbClr val="94A3B8"/>
                </a:solidFill>
                <a:latin typeface="Segoe UI"/>
              </a:rPr>
              <a:t>  rules, risk engine, attribution, trust, quarantine, scope model.</a:t>
            </a:r>
          </a:p>
          <a:p>
            <a:pPr>
              <a:spcAft>
                <a:spcPts val="900"/>
              </a:spcAft>
            </a:pPr>
            <a:r>
              <a:rPr sz="1500">
                <a:solidFill>
                  <a:srgbClr val="38BDF8"/>
                </a:solidFill>
                <a:latin typeface="Segoe UI"/>
              </a:rPr>
              <a:t>▸  </a:t>
            </a:r>
            <a:r>
              <a:rPr sz="1500" b="1">
                <a:solidFill>
                  <a:srgbClr val="E6EDF3"/>
                </a:solidFill>
                <a:latin typeface="Segoe UI"/>
              </a:rPr>
              <a:t>Integration:</a:t>
            </a:r>
            <a:r>
              <a:rPr sz="1500">
                <a:solidFill>
                  <a:srgbClr val="94A3B8"/>
                </a:solidFill>
                <a:latin typeface="Segoe UI"/>
              </a:rPr>
              <a:t>  real controller, database and file monitor end to end.</a:t>
            </a:r>
          </a:p>
          <a:p>
            <a:pPr>
              <a:spcAft>
                <a:spcPts val="900"/>
              </a:spcAft>
            </a:pPr>
            <a:r>
              <a:rPr sz="1500">
                <a:solidFill>
                  <a:srgbClr val="38BDF8"/>
                </a:solidFill>
                <a:latin typeface="Segoe UI"/>
              </a:rPr>
              <a:t>▸  </a:t>
            </a:r>
            <a:r>
              <a:rPr sz="1500" b="1">
                <a:solidFill>
                  <a:srgbClr val="E6EDF3"/>
                </a:solidFill>
                <a:latin typeface="Segoe UI"/>
              </a:rPr>
              <a:t>Architecture:</a:t>
            </a:r>
            <a:r>
              <a:rPr sz="1500">
                <a:solidFill>
                  <a:srgbClr val="94A3B8"/>
                </a:solidFill>
                <a:latin typeface="Segoe UI"/>
              </a:rPr>
              <a:t>  GUI never imports SQL, engines or coordinators.</a:t>
            </a:r>
          </a:p>
          <a:p>
            <a:pPr>
              <a:spcAft>
                <a:spcPts val="900"/>
              </a:spcAft>
            </a:pPr>
            <a:r>
              <a:rPr sz="1500">
                <a:solidFill>
                  <a:srgbClr val="38BDF8"/>
                </a:solidFill>
                <a:latin typeface="Segoe UI"/>
              </a:rPr>
              <a:t>▸  </a:t>
            </a:r>
            <a:r>
              <a:rPr sz="1500" b="1">
                <a:solidFill>
                  <a:srgbClr val="E6EDF3"/>
                </a:solidFill>
                <a:latin typeface="Segoe UI"/>
              </a:rPr>
              <a:t>Hostile input:</a:t>
            </a:r>
            <a:r>
              <a:rPr sz="1500">
                <a:solidFill>
                  <a:srgbClr val="94A3B8"/>
                </a:solidFill>
                <a:latin typeface="Segoe UI"/>
              </a:rPr>
              <a:t>  control and bidirectional characters neutralised.</a:t>
            </a:r>
          </a:p>
          <a:p>
            <a:pPr>
              <a:spcAft>
                <a:spcPts val="900"/>
              </a:spcAft>
            </a:pPr>
            <a:r>
              <a:rPr sz="1500">
                <a:solidFill>
                  <a:srgbClr val="38BDF8"/>
                </a:solidFill>
                <a:latin typeface="Segoe UI"/>
              </a:rPr>
              <a:t>▸  </a:t>
            </a:r>
            <a:r>
              <a:rPr sz="1500" b="1">
                <a:solidFill>
                  <a:srgbClr val="E6EDF3"/>
                </a:solidFill>
                <a:latin typeface="Segoe UI"/>
              </a:rPr>
              <a:t>Failure injection:</a:t>
            </a:r>
            <a:r>
              <a:rPr sz="1500">
                <a:solidFill>
                  <a:srgbClr val="94A3B8"/>
                </a:solidFill>
                <a:latin typeface="Segoe UI"/>
              </a:rPr>
              <a:t>  database errors reported, never shown as success.</a:t>
            </a:r>
          </a:p>
          <a:p>
            <a:pPr>
              <a:spcAft>
                <a:spcPts val="900"/>
              </a:spcAft>
            </a:pPr>
            <a:r>
              <a:rPr sz="1500">
                <a:solidFill>
                  <a:srgbClr val="38BDF8"/>
                </a:solidFill>
                <a:latin typeface="Segoe UI"/>
              </a:rPr>
              <a:t>▸  </a:t>
            </a:r>
            <a:r>
              <a:rPr sz="1500" b="1">
                <a:solidFill>
                  <a:srgbClr val="E6EDF3"/>
                </a:solidFill>
                <a:latin typeface="Segoe UI"/>
              </a:rPr>
              <a:t>Demo and protection:</a:t>
            </a:r>
            <a:r>
              <a:rPr sz="1500">
                <a:solidFill>
                  <a:srgbClr val="94A3B8"/>
                </a:solidFill>
                <a:latin typeface="Segoe UI"/>
              </a:rPr>
              <a:t>  real end-to-end runs; scan never scored as activity.</a:t>
            </a:r>
          </a:p>
        </p:txBody>
      </p:sp>
      <p:sp>
        <p:nvSpPr>
          <p:cNvPr id="10" name="TextBox 9"/>
          <p:cNvSpPr txBox="1"/>
          <p:nvPr/>
        </p:nvSpPr>
        <p:spPr>
          <a:xfrm>
            <a:off x="777240" y="4434840"/>
            <a:ext cx="4572000" cy="1371600"/>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Plus scripted checks of the launched application: setup, tour, second instance refused, clean shutdown, no orphan processes.</a:t>
            </a:r>
          </a:p>
        </p:txBody>
      </p:sp>
      <p:sp>
        <p:nvSpPr>
          <p:cNvPr id="11" name="TextBox 10"/>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2" name="TextBox 11"/>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SAFE LIVE DEMONSTRATION</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Synthetic files, real pipeline</a:t>
            </a:r>
          </a:p>
        </p:txBody>
      </p:sp>
      <p:sp>
        <p:nvSpPr>
          <p:cNvPr id="5" name="Oval 4"/>
          <p:cNvSpPr/>
          <p:nvPr/>
        </p:nvSpPr>
        <p:spPr>
          <a:xfrm>
            <a:off x="777240" y="178308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1</a:t>
            </a:r>
          </a:p>
        </p:txBody>
      </p:sp>
      <p:sp>
        <p:nvSpPr>
          <p:cNvPr id="6" name="TextBox 5"/>
          <p:cNvSpPr txBox="1"/>
          <p:nvPr/>
        </p:nvSpPr>
        <p:spPr>
          <a:xfrm>
            <a:off x="1280160" y="180136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Explain the demo</a:t>
            </a:r>
          </a:p>
        </p:txBody>
      </p:sp>
      <p:sp>
        <p:nvSpPr>
          <p:cNvPr id="7" name="Oval 6"/>
          <p:cNvSpPr/>
          <p:nvPr/>
        </p:nvSpPr>
        <p:spPr>
          <a:xfrm>
            <a:off x="777240" y="233172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2</a:t>
            </a:r>
          </a:p>
        </p:txBody>
      </p:sp>
      <p:sp>
        <p:nvSpPr>
          <p:cNvPr id="8" name="TextBox 7"/>
          <p:cNvSpPr txBox="1"/>
          <p:nvPr/>
        </p:nvSpPr>
        <p:spPr>
          <a:xfrm>
            <a:off x="1280160" y="235000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Prepare a clean workspace</a:t>
            </a:r>
          </a:p>
        </p:txBody>
      </p:sp>
      <p:sp>
        <p:nvSpPr>
          <p:cNvPr id="9" name="Oval 8"/>
          <p:cNvSpPr/>
          <p:nvPr/>
        </p:nvSpPr>
        <p:spPr>
          <a:xfrm>
            <a:off x="777240" y="288036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3</a:t>
            </a:r>
          </a:p>
        </p:txBody>
      </p:sp>
      <p:sp>
        <p:nvSpPr>
          <p:cNvPr id="10" name="TextBox 9"/>
          <p:cNvSpPr txBox="1"/>
          <p:nvPr/>
        </p:nvSpPr>
        <p:spPr>
          <a:xfrm>
            <a:off x="1280160" y="289864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Start the demonstration</a:t>
            </a:r>
          </a:p>
        </p:txBody>
      </p:sp>
      <p:sp>
        <p:nvSpPr>
          <p:cNvPr id="11" name="Oval 10"/>
          <p:cNvSpPr/>
          <p:nvPr/>
        </p:nvSpPr>
        <p:spPr>
          <a:xfrm>
            <a:off x="777240" y="342900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4</a:t>
            </a:r>
          </a:p>
        </p:txBody>
      </p:sp>
      <p:sp>
        <p:nvSpPr>
          <p:cNvPr id="12" name="TextBox 11"/>
          <p:cNvSpPr txBox="1"/>
          <p:nvPr/>
        </p:nvSpPr>
        <p:spPr>
          <a:xfrm>
            <a:off x="1280160" y="344728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Show synthetic activity</a:t>
            </a:r>
          </a:p>
        </p:txBody>
      </p:sp>
      <p:sp>
        <p:nvSpPr>
          <p:cNvPr id="13" name="Oval 12"/>
          <p:cNvSpPr/>
          <p:nvPr/>
        </p:nvSpPr>
        <p:spPr>
          <a:xfrm>
            <a:off x="777240" y="397764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5</a:t>
            </a:r>
          </a:p>
        </p:txBody>
      </p:sp>
      <p:sp>
        <p:nvSpPr>
          <p:cNvPr id="14" name="TextBox 13"/>
          <p:cNvSpPr txBox="1"/>
          <p:nvPr/>
        </p:nvSpPr>
        <p:spPr>
          <a:xfrm>
            <a:off x="1280160" y="399592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Show detection (risk rising)</a:t>
            </a:r>
          </a:p>
        </p:txBody>
      </p:sp>
      <p:sp>
        <p:nvSpPr>
          <p:cNvPr id="15" name="Oval 14"/>
          <p:cNvSpPr/>
          <p:nvPr/>
        </p:nvSpPr>
        <p:spPr>
          <a:xfrm>
            <a:off x="777240" y="452628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6</a:t>
            </a:r>
          </a:p>
        </p:txBody>
      </p:sp>
      <p:sp>
        <p:nvSpPr>
          <p:cNvPr id="16" name="TextBox 15"/>
          <p:cNvSpPr txBox="1"/>
          <p:nvPr/>
        </p:nvSpPr>
        <p:spPr>
          <a:xfrm>
            <a:off x="1280160" y="454456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Show the alert</a:t>
            </a:r>
          </a:p>
        </p:txBody>
      </p:sp>
      <p:sp>
        <p:nvSpPr>
          <p:cNvPr id="17" name="Oval 16"/>
          <p:cNvSpPr/>
          <p:nvPr/>
        </p:nvSpPr>
        <p:spPr>
          <a:xfrm>
            <a:off x="3886200" y="178308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7</a:t>
            </a:r>
          </a:p>
        </p:txBody>
      </p:sp>
      <p:sp>
        <p:nvSpPr>
          <p:cNvPr id="18" name="TextBox 17"/>
          <p:cNvSpPr txBox="1"/>
          <p:nvPr/>
        </p:nvSpPr>
        <p:spPr>
          <a:xfrm>
            <a:off x="4389120" y="180136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Open the incident and evidence</a:t>
            </a:r>
          </a:p>
        </p:txBody>
      </p:sp>
      <p:sp>
        <p:nvSpPr>
          <p:cNvPr id="19" name="Oval 18"/>
          <p:cNvSpPr/>
          <p:nvPr/>
        </p:nvSpPr>
        <p:spPr>
          <a:xfrm>
            <a:off x="3886200" y="233172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8</a:t>
            </a:r>
          </a:p>
        </p:txBody>
      </p:sp>
      <p:sp>
        <p:nvSpPr>
          <p:cNvPr id="20" name="TextBox 19"/>
          <p:cNvSpPr txBox="1"/>
          <p:nvPr/>
        </p:nvSpPr>
        <p:spPr>
          <a:xfrm>
            <a:off x="4389120" y="235000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Respond (acknowledge)</a:t>
            </a:r>
          </a:p>
        </p:txBody>
      </p:sp>
      <p:sp>
        <p:nvSpPr>
          <p:cNvPr id="21" name="Oval 20"/>
          <p:cNvSpPr/>
          <p:nvPr/>
        </p:nvSpPr>
        <p:spPr>
          <a:xfrm>
            <a:off x="3886200" y="288036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9</a:t>
            </a:r>
          </a:p>
        </p:txBody>
      </p:sp>
      <p:sp>
        <p:nvSpPr>
          <p:cNvPr id="22" name="TextBox 21"/>
          <p:cNvSpPr txBox="1"/>
          <p:nvPr/>
        </p:nvSpPr>
        <p:spPr>
          <a:xfrm>
            <a:off x="4389120" y="289864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Verify the audit chain</a:t>
            </a:r>
          </a:p>
        </p:txBody>
      </p:sp>
      <p:sp>
        <p:nvSpPr>
          <p:cNvPr id="23" name="Oval 22"/>
          <p:cNvSpPr/>
          <p:nvPr/>
        </p:nvSpPr>
        <p:spPr>
          <a:xfrm>
            <a:off x="3886200" y="342900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10</a:t>
            </a:r>
          </a:p>
        </p:txBody>
      </p:sp>
      <p:sp>
        <p:nvSpPr>
          <p:cNvPr id="24" name="TextBox 23"/>
          <p:cNvSpPr txBox="1"/>
          <p:nvPr/>
        </p:nvSpPr>
        <p:spPr>
          <a:xfrm>
            <a:off x="4389120" y="344728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Assess recovery readiness</a:t>
            </a:r>
          </a:p>
        </p:txBody>
      </p:sp>
      <p:sp>
        <p:nvSpPr>
          <p:cNvPr id="25" name="Oval 24"/>
          <p:cNvSpPr/>
          <p:nvPr/>
        </p:nvSpPr>
        <p:spPr>
          <a:xfrm>
            <a:off x="3886200" y="3977640"/>
            <a:ext cx="384048" cy="384048"/>
          </a:xfrm>
          <a:prstGeom prst="ellipse">
            <a:avLst/>
          </a:prstGeom>
          <a:solidFill>
            <a:srgbClr val="1B2845"/>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8BDF8"/>
                </a:solidFill>
                <a:latin typeface="Segoe UI"/>
              </a:rPr>
              <a:t>11</a:t>
            </a:r>
          </a:p>
        </p:txBody>
      </p:sp>
      <p:sp>
        <p:nvSpPr>
          <p:cNvPr id="26" name="TextBox 25"/>
          <p:cNvSpPr txBox="1"/>
          <p:nvPr/>
        </p:nvSpPr>
        <p:spPr>
          <a:xfrm>
            <a:off x="4389120" y="3995928"/>
            <a:ext cx="2560320" cy="384048"/>
          </a:xfrm>
          <a:prstGeom prst="rect">
            <a:avLst/>
          </a:prstGeom>
          <a:noFill/>
        </p:spPr>
        <p:txBody>
          <a:bodyPr wrap="square" anchor="t" lIns="45720" rIns="45720">
            <a:spAutoFit/>
          </a:bodyPr>
          <a:lstStyle/>
          <a:p>
            <a:pPr algn="l">
              <a:lnSpc>
                <a:spcPct val="110000"/>
              </a:lnSpc>
            </a:pPr>
            <a:r>
              <a:rPr sz="1400" b="0">
                <a:solidFill>
                  <a:srgbClr val="E6EDF3"/>
                </a:solidFill>
                <a:latin typeface="Segoe UI"/>
              </a:rPr>
              <a:t>Reset: files removed, records kept</a:t>
            </a:r>
          </a:p>
        </p:txBody>
      </p:sp>
      <p:sp>
        <p:nvSpPr>
          <p:cNvPr id="27" name="Rectangle 26"/>
          <p:cNvSpPr/>
          <p:nvPr/>
        </p:nvSpPr>
        <p:spPr>
          <a:xfrm>
            <a:off x="7178040" y="1737360"/>
            <a:ext cx="4389120" cy="2777490"/>
          </a:xfrm>
          <a:prstGeom prst="rect">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17-demo-complete.png"/>
          <p:cNvPicPr>
            <a:picLocks noChangeAspect="1"/>
          </p:cNvPicPr>
          <p:nvPr/>
        </p:nvPicPr>
        <p:blipFill>
          <a:blip r:embed="rId2"/>
          <a:stretch>
            <a:fillRect/>
          </a:stretch>
        </p:blipFill>
        <p:spPr>
          <a:xfrm>
            <a:off x="7223760" y="1783080"/>
            <a:ext cx="4297680" cy="2686050"/>
          </a:xfrm>
          <a:prstGeom prst="rect">
            <a:avLst/>
          </a:prstGeom>
        </p:spPr>
      </p:pic>
      <p:sp>
        <p:nvSpPr>
          <p:cNvPr id="29" name="TextBox 28"/>
          <p:cNvSpPr txBox="1"/>
          <p:nvPr/>
        </p:nvSpPr>
        <p:spPr>
          <a:xfrm>
            <a:off x="7223760" y="4542282"/>
            <a:ext cx="4297680" cy="320040"/>
          </a:xfrm>
          <a:prstGeom prst="rect">
            <a:avLst/>
          </a:prstGeom>
          <a:noFill/>
        </p:spPr>
        <p:txBody>
          <a:bodyPr wrap="square" anchor="t" lIns="45720" rIns="45720">
            <a:spAutoFit/>
          </a:bodyPr>
          <a:lstStyle/>
          <a:p>
            <a:pPr algn="l">
              <a:lnSpc>
                <a:spcPct val="110000"/>
              </a:lnSpc>
            </a:pPr>
            <a:r>
              <a:rPr sz="1100" b="0">
                <a:solidFill>
                  <a:srgbClr val="94A3B8"/>
                </a:solidFill>
                <a:latin typeface="Segoe UI"/>
              </a:rPr>
              <a:t>Demo Center: every step completed by real events</a:t>
            </a:r>
          </a:p>
        </p:txBody>
      </p:sp>
      <p:sp>
        <p:nvSpPr>
          <p:cNvPr id="30" name="TextBox 29"/>
          <p:cNvSpPr txBox="1"/>
          <p:nvPr/>
        </p:nvSpPr>
        <p:spPr>
          <a:xfrm>
            <a:off x="777240" y="5257800"/>
            <a:ext cx="6126480" cy="822960"/>
          </a:xfrm>
          <a:prstGeom prst="rect">
            <a:avLst/>
          </a:prstGeom>
          <a:noFill/>
        </p:spPr>
        <p:txBody>
          <a:bodyPr wrap="square" anchor="t" lIns="45720" rIns="45720">
            <a:spAutoFit/>
          </a:bodyPr>
          <a:lstStyle/>
          <a:p>
            <a:pPr algn="l">
              <a:lnSpc>
                <a:spcPct val="110000"/>
              </a:lnSpc>
            </a:pPr>
            <a:r>
              <a:rPr sz="1400" b="1">
                <a:solidFill>
                  <a:srgbClr val="F59E0B"/>
                </a:solidFill>
                <a:latin typeface="Segoe UI"/>
              </a:rPr>
              <a:t>Never: encryption, real user files, process termination, persistence or network activity.</a:t>
            </a:r>
          </a:p>
        </p:txBody>
      </p:sp>
      <p:sp>
        <p:nvSpPr>
          <p:cNvPr id="31" name="TextBox 30"/>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32" name="TextBox 31"/>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LIMITATIONS AND FUTURE WORK</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Stated plainly, in the product and here</a:t>
            </a:r>
          </a:p>
        </p:txBody>
      </p:sp>
      <p:sp>
        <p:nvSpPr>
          <p:cNvPr id="5" name="TextBox 4"/>
          <p:cNvSpPr txBox="1"/>
          <p:nvPr/>
        </p:nvSpPr>
        <p:spPr>
          <a:xfrm>
            <a:off x="777240" y="1783080"/>
            <a:ext cx="5669280" cy="4206240"/>
          </a:xfrm>
          <a:prstGeom prst="rect">
            <a:avLst/>
          </a:prstGeom>
          <a:noFill/>
        </p:spPr>
        <p:txBody>
          <a:bodyPr wrap="square">
            <a:spAutoFit/>
          </a:bodyPr>
          <a:lstStyle/>
          <a:p>
            <a:pPr>
              <a:spcAft>
                <a:spcPts val="1000"/>
              </a:spcAft>
            </a:pPr>
            <a:r>
              <a:rPr sz="1500">
                <a:solidFill>
                  <a:srgbClr val="38BDF8"/>
                </a:solidFill>
                <a:latin typeface="Segoe UI"/>
              </a:rPr>
              <a:t>▸  </a:t>
            </a:r>
            <a:r>
              <a:rPr sz="1500" b="1">
                <a:solidFill>
                  <a:srgbClr val="E6EDF3"/>
                </a:solidFill>
                <a:latin typeface="Segoe UI"/>
              </a:rPr>
              <a:t>User-mode only:</a:t>
            </a:r>
            <a:r>
              <a:rPr sz="1500">
                <a:solidFill>
                  <a:srgbClr val="94A3B8"/>
                </a:solidFill>
                <a:latin typeface="Segoe UI"/>
              </a:rPr>
              <a:t>  no kernel driver, ETW consumer or minifilter.</a:t>
            </a:r>
          </a:p>
          <a:p>
            <a:pPr>
              <a:spcAft>
                <a:spcPts val="1000"/>
              </a:spcAft>
            </a:pPr>
            <a:r>
              <a:rPr sz="1500">
                <a:solidFill>
                  <a:srgbClr val="38BDF8"/>
                </a:solidFill>
                <a:latin typeface="Segoe UI"/>
              </a:rPr>
              <a:t>▸  </a:t>
            </a:r>
            <a:r>
              <a:rPr sz="1500" b="1">
                <a:solidFill>
                  <a:srgbClr val="E6EDF3"/>
                </a:solidFill>
                <a:latin typeface="Segoe UI"/>
              </a:rPr>
              <a:t>Protected locations only:</a:t>
            </a:r>
            <a:r>
              <a:rPr sz="1500">
                <a:solidFill>
                  <a:srgbClr val="94A3B8"/>
                </a:solidFill>
                <a:latin typeface="Segoe UI"/>
              </a:rPr>
              <a:t>  activity elsewhere is not observed.</a:t>
            </a:r>
          </a:p>
          <a:p>
            <a:pPr>
              <a:spcAft>
                <a:spcPts val="1000"/>
              </a:spcAft>
            </a:pPr>
            <a:r>
              <a:rPr sz="1500">
                <a:solidFill>
                  <a:srgbClr val="38BDF8"/>
                </a:solidFill>
                <a:latin typeface="Segoe UI"/>
              </a:rPr>
              <a:t>▸  </a:t>
            </a:r>
            <a:r>
              <a:rPr sz="1500" b="1">
                <a:solidFill>
                  <a:srgbClr val="E6EDF3"/>
                </a:solidFill>
                <a:latin typeface="Segoe UI"/>
              </a:rPr>
              <a:t>Attribution is usually UNKNOWN:</a:t>
            </a:r>
            <a:r>
              <a:rPr sz="1500">
                <a:solidFill>
                  <a:srgbClr val="94A3B8"/>
                </a:solidFill>
                <a:latin typeface="Segoe UI"/>
              </a:rPr>
              <a:t>  file events do not name a process.</a:t>
            </a:r>
          </a:p>
          <a:p>
            <a:pPr>
              <a:spcAft>
                <a:spcPts val="1000"/>
              </a:spcAft>
            </a:pPr>
            <a:r>
              <a:rPr sz="1500">
                <a:solidFill>
                  <a:srgbClr val="38BDF8"/>
                </a:solidFill>
                <a:latin typeface="Segoe UI"/>
              </a:rPr>
              <a:t>▸  </a:t>
            </a:r>
            <a:r>
              <a:rPr sz="1500" b="1">
                <a:solidFill>
                  <a:srgbClr val="E6EDF3"/>
                </a:solidFill>
                <a:latin typeface="Segoe UI"/>
              </a:rPr>
              <a:t>No prevention guarantee:</a:t>
            </a:r>
            <a:r>
              <a:rPr sz="1500">
                <a:solidFill>
                  <a:srgbClr val="94A3B8"/>
                </a:solidFill>
                <a:latin typeface="Segoe UI"/>
              </a:rPr>
              <a:t>  no process termination or write blocking.</a:t>
            </a:r>
          </a:p>
          <a:p>
            <a:pPr>
              <a:spcAft>
                <a:spcPts val="1000"/>
              </a:spcAft>
            </a:pPr>
            <a:r>
              <a:rPr sz="1500">
                <a:solidFill>
                  <a:srgbClr val="38BDF8"/>
                </a:solidFill>
                <a:latin typeface="Segoe UI"/>
              </a:rPr>
              <a:t>▸  </a:t>
            </a:r>
            <a:r>
              <a:rPr sz="1500" b="1">
                <a:solidFill>
                  <a:srgbClr val="E6EDF3"/>
                </a:solidFill>
                <a:latin typeface="Segoe UI"/>
              </a:rPr>
              <a:t>No decryption or file recovery:</a:t>
            </a:r>
            <a:r>
              <a:rPr sz="1500">
                <a:solidFill>
                  <a:srgbClr val="94A3B8"/>
                </a:solidFill>
                <a:latin typeface="Segoe UI"/>
              </a:rPr>
              <a:t>  readiness only checks for a backup.</a:t>
            </a:r>
          </a:p>
          <a:p>
            <a:pPr>
              <a:spcAft>
                <a:spcPts val="1000"/>
              </a:spcAft>
            </a:pPr>
            <a:r>
              <a:rPr sz="1500">
                <a:solidFill>
                  <a:srgbClr val="38BDF8"/>
                </a:solidFill>
                <a:latin typeface="Segoe UI"/>
              </a:rPr>
              <a:t>▸  </a:t>
            </a:r>
            <a:r>
              <a:rPr sz="1500" b="0">
                <a:solidFill>
                  <a:srgbClr val="E6EDF3"/>
                </a:solidFill>
                <a:latin typeface="Segoe UI"/>
              </a:rPr>
              <a:t>Tampering is detected, not prevented.</a:t>
            </a:r>
          </a:p>
        </p:txBody>
      </p:sp>
      <p:sp>
        <p:nvSpPr>
          <p:cNvPr id="6" name="Rounded Rectangle 5"/>
          <p:cNvSpPr/>
          <p:nvPr/>
        </p:nvSpPr>
        <p:spPr>
          <a:xfrm>
            <a:off x="6766560" y="1783080"/>
            <a:ext cx="4754880" cy="4023360"/>
          </a:xfrm>
          <a:prstGeom prst="roundRect">
            <a:avLst>
              <a:gd name="adj" fmla="val 8000"/>
            </a:avLst>
          </a:prstGeom>
          <a:solidFill>
            <a:srgbClr val="131D33"/>
          </a:solidFill>
          <a:ln w="12700">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40880" y="1965960"/>
            <a:ext cx="429768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FUTURE WORK</a:t>
            </a:r>
          </a:p>
        </p:txBody>
      </p:sp>
      <p:sp>
        <p:nvSpPr>
          <p:cNvPr id="8" name="TextBox 7"/>
          <p:cNvSpPr txBox="1"/>
          <p:nvPr/>
        </p:nvSpPr>
        <p:spPr>
          <a:xfrm>
            <a:off x="7040880" y="2377440"/>
            <a:ext cx="4297680" cy="3291840"/>
          </a:xfrm>
          <a:prstGeom prst="rect">
            <a:avLst/>
          </a:prstGeom>
          <a:noFill/>
        </p:spPr>
        <p:txBody>
          <a:bodyPr wrap="square">
            <a:spAutoFit/>
          </a:bodyPr>
          <a:lstStyle/>
          <a:p>
            <a:pPr>
              <a:spcAft>
                <a:spcPts val="1000"/>
              </a:spcAft>
            </a:pPr>
            <a:r>
              <a:rPr sz="1500">
                <a:solidFill>
                  <a:srgbClr val="38BDF8"/>
                </a:solidFill>
                <a:latin typeface="Segoe UI"/>
              </a:rPr>
              <a:t>▸  </a:t>
            </a:r>
            <a:r>
              <a:rPr sz="1500" b="0">
                <a:solidFill>
                  <a:srgbClr val="E6EDF3"/>
                </a:solidFill>
                <a:latin typeface="Segoe UI"/>
              </a:rPr>
              <a:t>Kernel or ETW telemetry for causal attribution</a:t>
            </a:r>
          </a:p>
          <a:p>
            <a:pPr>
              <a:spcAft>
                <a:spcPts val="1000"/>
              </a:spcAft>
            </a:pPr>
            <a:r>
              <a:rPr sz="1500">
                <a:solidFill>
                  <a:srgbClr val="38BDF8"/>
                </a:solidFill>
                <a:latin typeface="Segoe UI"/>
              </a:rPr>
              <a:t>▸  </a:t>
            </a:r>
            <a:r>
              <a:rPr sz="1500" b="0">
                <a:solidFill>
                  <a:srgbClr val="E6EDF3"/>
                </a:solidFill>
                <a:latin typeface="Segoe UI"/>
              </a:rPr>
              <a:t>Process suspension as a confirmed response</a:t>
            </a:r>
          </a:p>
          <a:p>
            <a:pPr>
              <a:spcAft>
                <a:spcPts val="1000"/>
              </a:spcAft>
            </a:pPr>
            <a:r>
              <a:rPr sz="1500">
                <a:solidFill>
                  <a:srgbClr val="38BDF8"/>
                </a:solidFill>
                <a:latin typeface="Segoe UI"/>
              </a:rPr>
              <a:t>▸  </a:t>
            </a:r>
            <a:r>
              <a:rPr sz="1500" b="0">
                <a:solidFill>
                  <a:srgbClr val="E6EDF3"/>
                </a:solidFill>
                <a:latin typeface="Segoe UI"/>
              </a:rPr>
              <a:t>Volume Shadow Copy inspection for recovery</a:t>
            </a:r>
          </a:p>
          <a:p>
            <a:pPr>
              <a:spcAft>
                <a:spcPts val="1000"/>
              </a:spcAft>
            </a:pPr>
            <a:r>
              <a:rPr sz="1500">
                <a:solidFill>
                  <a:srgbClr val="38BDF8"/>
                </a:solidFill>
                <a:latin typeface="Segoe UI"/>
              </a:rPr>
              <a:t>▸  </a:t>
            </a:r>
            <a:r>
              <a:rPr sz="1500" b="0">
                <a:solidFill>
                  <a:srgbClr val="E6EDF3"/>
                </a:solidFill>
                <a:latin typeface="Segoe UI"/>
              </a:rPr>
              <a:t>Signed installer (MSI/MSIX)</a:t>
            </a:r>
          </a:p>
          <a:p>
            <a:pPr>
              <a:spcAft>
                <a:spcPts val="1000"/>
              </a:spcAft>
            </a:pPr>
            <a:r>
              <a:rPr sz="1500">
                <a:solidFill>
                  <a:srgbClr val="38BDF8"/>
                </a:solidFill>
                <a:latin typeface="Segoe UI"/>
              </a:rPr>
              <a:t>▸  </a:t>
            </a:r>
            <a:r>
              <a:rPr sz="1500" b="0">
                <a:solidFill>
                  <a:srgbClr val="E6EDF3"/>
                </a:solidFill>
                <a:latin typeface="Segoe UI"/>
              </a:rPr>
              <a:t>Authenticated telemetry checkpoints</a:t>
            </a:r>
          </a:p>
        </p:txBody>
      </p:sp>
      <p:sp>
        <p:nvSpPr>
          <p:cNvPr id="9" name="TextBox 8"/>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10" name="TextBox 9"/>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548640" y="5029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a:spAutoFit/>
          </a:bodyPr>
          <a:lstStyle/>
          <a:p>
            <a:pPr algn="l">
              <a:lnSpc>
                <a:spcPct val="110000"/>
              </a:lnSpc>
            </a:pPr>
            <a:r>
              <a:rPr sz="1300" b="1">
                <a:solidFill>
                  <a:srgbClr val="38BDF8"/>
                </a:solidFill>
                <a:latin typeface="Segoe UI"/>
              </a:rPr>
              <a:t>CONCLUSION</a:t>
            </a:r>
          </a:p>
        </p:txBody>
      </p:sp>
      <p:sp>
        <p:nvSpPr>
          <p:cNvPr id="4" name="TextBox 3"/>
          <p:cNvSpPr txBox="1"/>
          <p:nvPr/>
        </p:nvSpPr>
        <p:spPr>
          <a:xfrm>
            <a:off x="777240" y="731520"/>
            <a:ext cx="10789920" cy="731520"/>
          </a:xfrm>
          <a:prstGeom prst="rect">
            <a:avLst/>
          </a:prstGeom>
          <a:noFill/>
        </p:spPr>
        <p:txBody>
          <a:bodyPr wrap="square" anchor="t" lIns="45720" rIns="45720">
            <a:spAutoFit/>
          </a:bodyPr>
          <a:lstStyle/>
          <a:p>
            <a:pPr algn="l">
              <a:lnSpc>
                <a:spcPct val="110000"/>
              </a:lnSpc>
            </a:pPr>
            <a:r>
              <a:rPr sz="3000" b="1">
                <a:solidFill>
                  <a:srgbClr val="E6EDF3"/>
                </a:solidFill>
                <a:latin typeface="Segoe UI"/>
              </a:rPr>
              <a:t>Ransomware Sentinel</a:t>
            </a:r>
          </a:p>
        </p:txBody>
      </p:sp>
      <p:sp>
        <p:nvSpPr>
          <p:cNvPr id="5" name="TextBox 4"/>
          <p:cNvSpPr txBox="1"/>
          <p:nvPr/>
        </p:nvSpPr>
        <p:spPr>
          <a:xfrm>
            <a:off x="777240" y="1828800"/>
            <a:ext cx="10607040" cy="3291840"/>
          </a:xfrm>
          <a:prstGeom prst="rect">
            <a:avLst/>
          </a:prstGeom>
          <a:noFill/>
        </p:spPr>
        <p:txBody>
          <a:bodyPr wrap="square">
            <a:spAutoFit/>
          </a:bodyPr>
          <a:lstStyle/>
          <a:p>
            <a:pPr>
              <a:spcAft>
                <a:spcPts val="1600"/>
              </a:spcAft>
            </a:pPr>
            <a:r>
              <a:rPr sz="2000">
                <a:solidFill>
                  <a:srgbClr val="38BDF8"/>
                </a:solidFill>
                <a:latin typeface="Segoe UI"/>
              </a:rPr>
              <a:t>▸  </a:t>
            </a:r>
            <a:r>
              <a:rPr sz="2000" b="1">
                <a:solidFill>
                  <a:srgbClr val="E6EDF3"/>
                </a:solidFill>
                <a:latin typeface="Segoe UI"/>
              </a:rPr>
              <a:t>Detects</a:t>
            </a:r>
            <a:r>
              <a:rPr sz="2000">
                <a:solidFill>
                  <a:srgbClr val="94A3B8"/>
                </a:solidFill>
                <a:latin typeface="Segoe UI"/>
              </a:rPr>
              <a:t>  ransomware-like behaviour in the user's own folders with five explainable rules.</a:t>
            </a:r>
          </a:p>
          <a:p>
            <a:pPr>
              <a:spcAft>
                <a:spcPts val="1600"/>
              </a:spcAft>
            </a:pPr>
            <a:r>
              <a:rPr sz="2000">
                <a:solidFill>
                  <a:srgbClr val="38BDF8"/>
                </a:solidFill>
                <a:latin typeface="Segoe UI"/>
              </a:rPr>
              <a:t>▸  </a:t>
            </a:r>
            <a:r>
              <a:rPr sz="2000" b="1">
                <a:solidFill>
                  <a:srgbClr val="E6EDF3"/>
                </a:solidFill>
                <a:latin typeface="Segoe UI"/>
              </a:rPr>
              <a:t>Guides</a:t>
            </a:r>
            <a:r>
              <a:rPr sz="2000">
                <a:solidFill>
                  <a:srgbClr val="94A3B8"/>
                </a:solidFill>
                <a:latin typeface="Segoe UI"/>
              </a:rPr>
              <a:t>  a new user from setup to protection, investigation and response.</a:t>
            </a:r>
          </a:p>
          <a:p>
            <a:pPr>
              <a:spcAft>
                <a:spcPts val="1600"/>
              </a:spcAft>
            </a:pPr>
            <a:r>
              <a:rPr sz="2000">
                <a:solidFill>
                  <a:srgbClr val="38BDF8"/>
                </a:solidFill>
                <a:latin typeface="Segoe UI"/>
              </a:rPr>
              <a:t>▸  </a:t>
            </a:r>
            <a:r>
              <a:rPr sz="2000" b="1">
                <a:solidFill>
                  <a:srgbClr val="E6EDF3"/>
                </a:solidFill>
                <a:latin typeface="Segoe UI"/>
              </a:rPr>
              <a:t>Records</a:t>
            </a:r>
            <a:r>
              <a:rPr sz="2000">
                <a:solidFill>
                  <a:srgbClr val="94A3B8"/>
                </a:solidFill>
                <a:latin typeface="Segoe UI"/>
              </a:rPr>
              <a:t>  every security action in a tamper-evident audit log.</a:t>
            </a:r>
          </a:p>
          <a:p>
            <a:pPr>
              <a:spcAft>
                <a:spcPts val="1600"/>
              </a:spcAft>
            </a:pPr>
            <a:r>
              <a:rPr sz="2000">
                <a:solidFill>
                  <a:srgbClr val="38BDF8"/>
                </a:solidFill>
                <a:latin typeface="Segoe UI"/>
              </a:rPr>
              <a:t>▸  </a:t>
            </a:r>
            <a:r>
              <a:rPr sz="2000" b="1">
                <a:solidFill>
                  <a:srgbClr val="E6EDF3"/>
                </a:solidFill>
                <a:latin typeface="Segoe UI"/>
              </a:rPr>
              <a:t>Demonstrates</a:t>
            </a:r>
            <a:r>
              <a:rPr sz="2000">
                <a:solidFill>
                  <a:srgbClr val="94A3B8"/>
                </a:solidFill>
                <a:latin typeface="Segoe UI"/>
              </a:rPr>
              <a:t>  the full workflow safely, on synthetic files, with a clean reset.</a:t>
            </a:r>
          </a:p>
          <a:p>
            <a:pPr>
              <a:spcAft>
                <a:spcPts val="1600"/>
              </a:spcAft>
            </a:pPr>
            <a:r>
              <a:rPr sz="2000">
                <a:solidFill>
                  <a:srgbClr val="38BDF8"/>
                </a:solidFill>
                <a:latin typeface="Segoe UI"/>
              </a:rPr>
              <a:t>▸  </a:t>
            </a:r>
            <a:r>
              <a:rPr sz="2000" b="1">
                <a:solidFill>
                  <a:srgbClr val="E6EDF3"/>
                </a:solidFill>
                <a:latin typeface="Segoe UI"/>
              </a:rPr>
              <a:t>Is honest</a:t>
            </a:r>
            <a:r>
              <a:rPr sz="2000">
                <a:solidFill>
                  <a:srgbClr val="94A3B8"/>
                </a:solidFill>
                <a:latin typeface="Segoe UI"/>
              </a:rPr>
              <a:t>  about coverage: user-mode, protected locations only, no prevention guarantee.</a:t>
            </a:r>
          </a:p>
        </p:txBody>
      </p:sp>
      <p:sp>
        <p:nvSpPr>
          <p:cNvPr id="6" name="TextBox 5"/>
          <p:cNvSpPr txBox="1"/>
          <p:nvPr/>
        </p:nvSpPr>
        <p:spPr>
          <a:xfrm>
            <a:off x="777240" y="5394960"/>
            <a:ext cx="10607040" cy="548640"/>
          </a:xfrm>
          <a:prstGeom prst="rect">
            <a:avLst/>
          </a:prstGeom>
          <a:noFill/>
        </p:spPr>
        <p:txBody>
          <a:bodyPr wrap="square" anchor="t" lIns="45720" rIns="45720">
            <a:spAutoFit/>
          </a:bodyPr>
          <a:lstStyle/>
          <a:p>
            <a:pPr algn="l">
              <a:lnSpc>
                <a:spcPct val="110000"/>
              </a:lnSpc>
            </a:pPr>
            <a:r>
              <a:rPr sz="2400" b="1">
                <a:solidFill>
                  <a:srgbClr val="38BDF8"/>
                </a:solidFill>
                <a:latin typeface="Segoe UI"/>
              </a:rPr>
              <a:t>Thank you — questions welcome.</a:t>
            </a:r>
          </a:p>
        </p:txBody>
      </p:sp>
      <p:sp>
        <p:nvSpPr>
          <p:cNvPr id="7" name="TextBox 6"/>
          <p:cNvSpPr txBox="1"/>
          <p:nvPr/>
        </p:nvSpPr>
        <p:spPr>
          <a:xfrm>
            <a:off x="548640" y="6400800"/>
            <a:ext cx="7315200" cy="320040"/>
          </a:xfrm>
          <a:prstGeom prst="rect">
            <a:avLst/>
          </a:prstGeom>
          <a:noFill/>
        </p:spPr>
        <p:txBody>
          <a:bodyPr wrap="square" anchor="t" lIns="45720" rIns="45720">
            <a:spAutoFit/>
          </a:bodyPr>
          <a:lstStyle/>
          <a:p>
            <a:pPr algn="l">
              <a:lnSpc>
                <a:spcPct val="110000"/>
              </a:lnSpc>
            </a:pPr>
            <a:r>
              <a:rPr sz="1000" b="0">
                <a:solidFill>
                  <a:srgbClr val="94A3B8"/>
                </a:solidFill>
                <a:latin typeface="Segoe UI"/>
              </a:rPr>
              <a:t>Ransomware Sentinel · local behavioural ransomware detection and response for Windows</a:t>
            </a:r>
          </a:p>
        </p:txBody>
      </p:sp>
      <p:sp>
        <p:nvSpPr>
          <p:cNvPr id="8" name="TextBox 7"/>
          <p:cNvSpPr txBox="1"/>
          <p:nvPr/>
        </p:nvSpPr>
        <p:spPr>
          <a:xfrm>
            <a:off x="10972800" y="6400800"/>
            <a:ext cx="731520" cy="320040"/>
          </a:xfrm>
          <a:prstGeom prst="rect">
            <a:avLst/>
          </a:prstGeom>
          <a:noFill/>
        </p:spPr>
        <p:txBody>
          <a:bodyPr wrap="square" anchor="t" lIns="45720" rIns="45720">
            <a:spAutoFit/>
          </a:bodyPr>
          <a:lstStyle/>
          <a:p>
            <a:pPr algn="r">
              <a:lnSpc>
                <a:spcPct val="110000"/>
              </a:lnSpc>
            </a:pPr>
            <a:r>
              <a:rPr sz="1000" b="0">
                <a:solidFill>
                  <a:srgbClr val="94A3B8"/>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Ransomware Sentinel - Project Presentation</dc:title>
  <dc:subject/>
  <dc:creator>Ransomware Sentinel project</dc:creator>
  <cp:keywords/>
  <dc:description/>
  <cp:lastModifiedBy>Ransomware Sentinel project</cp:lastModifiedBy>
  <cp:revision>1</cp:revision>
  <dcterms:created xsi:type="dcterms:W3CDTF">2013-01-27T09:14:16Z</dcterms:created>
  <dcterms:modified xsi:type="dcterms:W3CDTF">2013-01-27T09:15:58Z</dcterms:modified>
  <cp:category/>
</cp:coreProperties>
</file>